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TECHNOLOGY CONSULTANTS  ·  EXECUTIVE 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6161A"/>
                </a:solidFill>
                <a:latin typeface="Helvetica Neue"/>
              </a:defRPr>
            </a:pPr>
            <a:r>
              <a:t>Applied AI &amp; Custom Web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>
                <a:solidFill>
                  <a:srgbClr val="454337"/>
                </a:solidFill>
                <a:latin typeface="Helvetica Neue"/>
              </a:defRPr>
            </a:pPr>
            <a:r>
              <a:t>What Real AI Means for Operations &amp; How We Build Systems That Impact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38100" cy="8686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05000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 i="1">
                <a:solidFill>
                  <a:srgbClr val="16161A"/>
                </a:solidFill>
                <a:latin typeface="Helvetica Neue"/>
              </a:defRPr>
            </a:pPr>
            <a:r>
              <a:t>“We build technology around your people — not instead of them.”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Custom React Web Apps  ·  Workday Finance &amp; ERP Integrations  ·  Human-in-the-Loop AI Automations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PRACTICE LEADERSHIP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Roberto Guido  —  Founder &amp; Principal Engineer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BS Electrical Engineering (UC San Diego)  ·  MBA (NYU Stern)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LOCATION &amp; CONTACT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San Diego, CA &amp; Tijuana, MX</a:t>
            </a:r>
          </a:p>
          <a:p>
            <a:pPr>
              <a:defRPr sz="1250">
                <a:solidFill>
                  <a:srgbClr val="2B59D9"/>
                </a:solidFill>
                <a:latin typeface="Helvetica Neue"/>
              </a:defRPr>
            </a:pPr>
            <a:r>
              <a:t>technologyconsultants.ventures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In production.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Real users today on self-developed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Senior team.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The people who pitch your project ship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Code first.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No decks before working software.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One team.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&amp; automations: same stack.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DEMYSTIFYING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What "AI" Actually Means for Business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SURFACE-LEVEL CHATBOTS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Generic AI (The Hype)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ChatGPT prompts that summarize text or draft copy. Useful for personal productivity, but does NOT integrate into core company databases, ERPs, or business rules.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CONNECTED ENTERPRISE ARCHITECTURE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Applied AI &amp; MCP (The System)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AI models connected directly to databases, Workday ERPs, and custom React web apps via secure Model Context Protocol (MCP) servers and APIs.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SCALABLE OPERATIONAL SAFETY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Human-in-the-Loop (The Impact)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AI agents process 90% of routine paperwork, invoice reading, and data reconciliation, while automatically flagging edge cases for human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CORE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Websites, Enterprise Integrations &amp; Intelligent Automations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Custom Interfaces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High-performance React &amp; TypeScript web applications built for human speed and intuitive execution.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Custom React &amp; TypeScript web apps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Responsive, accessible UX design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Direct payment &amp; order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99B26"/>
                </a:solidFill>
                <a:latin typeface="Helvetica Neue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Systems Integration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Deep financial backend integrations, database architecture, and enterprise APIs.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Workday Finance &amp; Adaptive Planning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PostgreSQL database architecture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REST &amp; GraphQL API pipelines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Applied AI &amp; Automation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Custom Model Context Protocol (MCP) servers and human-in-the-loop AI agents.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Custom MCP server deployment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LLM orchestration &amp; document extraction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Human-in-the-loop (HITL) safety gates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FEATURED PROJECT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Workday Finance &amp; Enterprise MCP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THE OPERATIONAL BOTTLENECK</a:t>
            </a:r>
          </a:p>
          <a:p>
            <a:pPr>
              <a:spcAft>
                <a:spcPts val="1400"/>
              </a:spcAft>
              <a:defRPr sz="1400">
                <a:solidFill>
                  <a:srgbClr val="16161A"/>
                </a:solidFill>
                <a:latin typeface="Helvetica Neue"/>
              </a:defRPr>
            </a:pPr>
            <a:r>
              <a:t>Finance &amp; accounting teams losing hundreds of hours manually reviewing incoming vendor invoices, pulling ERP reporting data, and re-entering records into Workday.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Traditional SaaS automation failed due to strict corporate security policies and lack of auditability.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ENGINEERED SOLUTION &amp; BUSINESS IMPACT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Custom MCP Architecture: </a:t>
            </a:r>
            <a:r>
              <a:rPr b="0">
                <a:solidFill>
                  <a:srgbClr val="454337"/>
                </a:solidFill>
              </a:rPr>
              <a:t>Engineered custom Model Context Protocol (MCP) servers connecting Workday Finance &amp; Adaptive Planning directly to secure LLM pipelines.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Human-in-the-Loop Safety: </a:t>
            </a:r>
            <a:r>
              <a:rPr b="0">
                <a:solidFill>
                  <a:srgbClr val="454337"/>
                </a:solidFill>
              </a:rPr>
              <a:t>Automated 90%+ of standard invoice extractions, while instantly routing multi-thousand-dollar exceptions or novel vendors to senior finance directors.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Measurable Business Impact: </a:t>
            </a:r>
            <a:r>
              <a:rPr b="0">
                <a:solidFill>
                  <a:srgbClr val="454337"/>
                </a:solidFill>
              </a:rPr>
              <a:t>Reduced invoice processing cycles by 80%+ while preserving 100% data privacy, role-based permissions, and audit trails.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FEATURED PROJECT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Encounter AI — High-Volume Voice AI Hardware &amp;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VOICE AI FOR HIGH-SPEED COMMERCE</a:t>
            </a:r>
          </a:p>
          <a:p>
            <a:pPr>
              <a:spcAft>
                <a:spcPts val="1400"/>
              </a:spcAft>
              <a:defRPr sz="1400">
                <a:solidFill>
                  <a:srgbClr val="16161A"/>
                </a:solidFill>
                <a:latin typeface="Helvetica Neue"/>
              </a:defRPr>
            </a:pPr>
            <a:r>
              <a:t>Designed end-to-end hardware &amp; software voice AI ordering systems for high-volume drive-thrus and retail kiosks, processing natural spoken conversations in noisy real-world environments.</a:t>
            </a:r>
          </a:p>
          <a:p>
            <a:pPr>
              <a:spcAft>
                <a:spcPts val="400"/>
              </a:spcAft>
              <a:defRPr b="1" sz="1300">
                <a:solidFill>
                  <a:srgbClr val="D99B26"/>
                </a:solidFill>
                <a:latin typeface="Helvetica Neue"/>
              </a:defRPr>
            </a:pPr>
            <a:r>
              <a:t>Backing &amp; Industry Recognition:</a:t>
            </a:r>
          </a:p>
          <a:p>
            <a:pPr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Selected &amp; Backed by Morgan Stanley Inclusive Ventures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KEY TECHNICAL ACHIEVEMENTS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Real-Time Audio Processing: </a:t>
            </a:r>
            <a:r>
              <a:rPr b="0">
                <a:solidFill>
                  <a:srgbClr val="454337"/>
                </a:solidFill>
              </a:rPr>
              <a:t>Sub-second speech recognition and intent extraction tailored to acoustic noise profiles.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POS API Integration: </a:t>
            </a:r>
            <a:r>
              <a:rPr b="0">
                <a:solidFill>
                  <a:srgbClr val="454337"/>
                </a:solidFill>
              </a:rPr>
              <a:t>Direct two-way integration into point-of-sale systems, kitchen display screens, and payment terminals.</a:t>
            </a:r>
          </a:p>
          <a:p>
            <a:pPr>
              <a:spcAft>
                <a:spcPts val="1000"/>
              </a:spcAft>
              <a:defRPr b="1" sz="1350">
                <a:solidFill>
                  <a:srgbClr val="16161A"/>
                </a:solidFill>
                <a:latin typeface="Helvetica Neue"/>
              </a:defRPr>
            </a:pPr>
            <a:r>
              <a:t>•  Human Fail-over Safety: </a:t>
            </a:r>
            <a:r>
              <a:rPr b="0">
                <a:solidFill>
                  <a:srgbClr val="454337"/>
                </a:solidFill>
              </a:rPr>
              <a:t>Instant seamless escalation to human staff whenever customer requests fall outside standard menu logic.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PROVEN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Self-Developed Applications Live in Production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MEDICAL &amp; SERVICE SCHEDULING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Appt Helper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Automated web application for patient scheduling, appointment reminders, and calendar synchronization.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CROSS-BORDER MESSAGING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Open Cita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Bilingual scheduling and client communication platform tailored to US-Mexico cross-border service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DOCUMENT &amp; EXPENSE RECONCILIATION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Border Bills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Automated receipt parsing, document extraction, and cross-border currency expense reconciliation engine.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OUR CODE-FIRST PROMISE</a:t>
            </a:r>
          </a:p>
          <a:p>
            <a:pPr>
              <a:defRPr sz="1400">
                <a:solidFill>
                  <a:srgbClr val="16161A"/>
                </a:solidFill>
                <a:latin typeface="Helvetica Neue"/>
              </a:defRPr>
            </a:pPr>
            <a:r>
              <a:t>“We build, launch, and operate our own live software applications daily before selling technical architecture to clients. Real users, real databases, real production code.”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OPERATIONAL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How We Transform Company Workflows in 30–90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ELIMINATE MANUAL BACKLOGS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Automate the Routine (90%)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Paperwork reading, invoice extraction, appointment booking, and routine database updates run automatically in the background without employee intervention.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HUMAN-IN-THE-LOOP SAFETY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Flag the Exceptions (10%)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Multi-thousand-dollar approvals, novel vendor edge cases, or complex customer calls are instantly routed to human managers with full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ZERO MANUAL COPY-PASTING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Unify Enterprise Systems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Front-end web apps, backend PostgreSQL databases, and Workday ERP systems share live data automatically without manual copy-pasting or spreadsheet exports.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IDEAL CLIENT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Companies in Your Network That We Can Help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TARGET COMPANY PROFILE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Mid-Market &amp; Fast-Growing SMBs: </a:t>
            </a:r>
            <a:r>
              <a:rPr b="0" sz="1350">
                <a:solidFill>
                  <a:srgbClr val="454337"/>
                </a:solidFill>
              </a:rPr>
              <a:t>Teams with 10–250 employees outgrowing spreadsheets or disconnected SaaS apps.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Finance &amp; Operations Leaders: </a:t>
            </a:r>
            <a:r>
              <a:rPr b="0" sz="1350">
                <a:solidFill>
                  <a:srgbClr val="454337"/>
                </a:solidFill>
              </a:rPr>
              <a:t>CFOs, VPs of Operations, or CTOs struggling with invoice backlogs, Workday reporting, or custom tool needs.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PE &amp; VC Portfolio Companies: </a:t>
            </a:r>
            <a:r>
              <a:rPr b="0" sz="1350">
                <a:solidFill>
                  <a:srgbClr val="454337"/>
                </a:solidFill>
              </a:rPr>
              <a:t>Operating companies needing back-office automation to increase EBITDA and operational capacity.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WHAT PROSPECTS SAY BEFORE THEY CALL US</a:t>
            </a:r>
          </a:p>
          <a:p>
            <a:pPr>
              <a:spcAft>
                <a:spcPts val="12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“  Our backend finance systems (Workday/ERP/PostgreSQL) don’t connect cleanly to our front-end web tools.  ”</a:t>
            </a:r>
          </a:p>
          <a:p>
            <a:pPr>
              <a:spcAft>
                <a:spcPts val="12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“  We want to use AI agents, but we need strict enterprise security, role controls, and human oversight.  ”</a:t>
            </a:r>
          </a:p>
          <a:p>
            <a:pPr>
              <a:spcAft>
                <a:spcPts val="12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“  Our team is bogged down manually processing invoices, scheduling appointments, or re-entering data.  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ENGAGEMENT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Low-Risk Sprints to Working Production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2 - 4 WEEKS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Proof-of-Concept Sprint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Low-risk initial engagement to build a working prototype, validate API integrations (e.g. Workday/MCP), and prove technical feasibility before committing large budgets.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PROJECT-BASED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Full Implementation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End-to-end custom React web software, backend integration pipeline, automated AI workflow, and production cloud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MONTHLY RETAINER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Strategic Advisory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Ongoing technical leadership, architecture reviews, AI readiness roadmap, and senior engineering guidance.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How to Make the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29260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RECOMMENDED EMAIL INTRO TEMPLATE</a:t>
            </a:r>
          </a:p>
          <a:p>
            <a:pPr>
              <a:spcAft>
                <a:spcPts val="1000"/>
              </a:spcAft>
              <a:defRPr sz="1600">
                <a:solidFill>
                  <a:srgbClr val="16161A"/>
                </a:solidFill>
                <a:latin typeface="Helvetica Neue"/>
              </a:defRPr>
            </a:pPr>
            <a:r>
              <a:t>“Hi [Name] — I’d like to introduce you to Roberto Guido, Founder &amp; Principal Engineer at Technology Consultants (UC San Diego EE + NYU Stern MBA).</a:t>
            </a:r>
          </a:p>
          <a:p>
            <a:pPr>
              <a:defRPr sz="1600">
                <a:solidFill>
                  <a:srgbClr val="16161A"/>
                </a:solidFill>
                <a:latin typeface="Helvetica Neue"/>
              </a:defRPr>
            </a:pPr>
            <a:r>
              <a:t>They build custom web applications, Workday/ERP integrations, and secure human-in-the-loop AI automations that take repetitive work off your team’s plate. Given what you mentioned about [pain point], I thought it’d be great for you two to connect.”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Roberto Guido  |  Technology Consultants</a:t>
            </a:r>
          </a:p>
          <a:p>
            <a:pPr>
              <a:spcBef>
                <a:spcPts val="400"/>
              </a:spcBef>
              <a:defRPr sz="1400">
                <a:solidFill>
                  <a:srgbClr val="2B59D9"/>
                </a:solidFill>
                <a:latin typeface="Helvetica Neue"/>
              </a:defRPr>
            </a:pPr>
            <a:r>
              <a:t>Website: technologyconsultants.ventures   ·   San Diego &amp; Tijuana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