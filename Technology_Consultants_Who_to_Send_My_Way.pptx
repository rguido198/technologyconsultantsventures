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REFERRAL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5943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› SYSTEM ARCHITECTURE &amp; INTEGRATION</a:t>
            </a:r>
          </a:p>
          <a:p>
            <a:pPr>
              <a:spcAft>
                <a:spcPts val="1400"/>
              </a:spcAft>
              <a:defRPr sz="4200" b="1">
                <a:solidFill>
                  <a:srgbClr val="FFFFFF"/>
                </a:solidFill>
                <a:latin typeface="Helvetica"/>
              </a:defRPr>
            </a:pPr>
            <a:r>
              <a:t>Who to Send My Way</a:t>
            </a:r>
          </a:p>
          <a:p>
            <a:pPr>
              <a:spcAft>
                <a:spcPts val="2800"/>
              </a:spcAft>
              <a:defRPr sz="1800">
                <a:solidFill>
                  <a:srgbClr val="B4B9C3"/>
                </a:solidFill>
                <a:latin typeface="Helvetica"/>
              </a:defRPr>
            </a:pPr>
            <a:r>
              <a:t>Partner Referral Guide &amp; Ideal Client Profile</a:t>
            </a:r>
          </a:p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PRACTICE LEAD:</a:t>
            </a:r>
          </a:p>
          <a:p>
            <a:pPr>
              <a:defRPr sz="1800" b="1">
                <a:solidFill>
                  <a:srgbClr val="FFFFFF"/>
                </a:solidFill>
                <a:latin typeface="Helvetica"/>
              </a:defRPr>
            </a:pPr>
            <a:r>
              <a:t>Roberto Guido</a:t>
            </a:r>
          </a:p>
          <a:p>
            <a:pPr>
              <a:defRPr sz="1300">
                <a:solidFill>
                  <a:srgbClr val="D99B26"/>
                </a:solidFill>
                <a:latin typeface="Helvetica"/>
              </a:defRPr>
            </a:pPr>
            <a:r>
              <a:t>BS Electrical Engineering (UC San Diego) · MBA (NYU Stern)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1463040"/>
            <a:ext cx="4572000" cy="4114800"/>
          </a:xfrm>
          <a:prstGeom prst="round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0" y="1463040"/>
            <a:ext cx="4572000" cy="365760"/>
          </a:xfrm>
          <a:prstGeom prst="rect">
            <a:avLst/>
          </a:prstGeom>
          <a:solidFill>
            <a:srgbClr val="1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95160" y="1572768"/>
            <a:ext cx="128016" cy="12801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1572768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60920" y="1572768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0" y="1536192"/>
            <a:ext cx="3657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Courier New"/>
              </a:defRPr>
            </a:pPr>
            <a:r>
              <a:t>bash — system_status.log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965960"/>
            <a:ext cx="40233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  <a:r>
              <a:t>$ agy init --practice technology-consultants</a:t>
            </a:r>
          </a:p>
          <a:p>
            <a:pPr>
              <a:spcAft>
                <a:spcPts val="600"/>
              </a:spcAft>
              <a:defRPr sz="1100">
                <a:solidFill>
                  <a:srgbClr val="D99B26"/>
                </a:solidFill>
                <a:latin typeface="Courier New"/>
              </a:defRPr>
            </a:pPr>
            <a:r>
              <a:t>[INFO] Initializing practice context...</a:t>
            </a:r>
          </a:p>
          <a:p>
            <a:pPr>
              <a:spcAft>
                <a:spcPts val="600"/>
              </a:spcAft>
              <a:defRPr sz="1100">
                <a:solidFill>
                  <a:srgbClr val="D99B26"/>
                </a:solidFill>
                <a:latin typeface="Courier New"/>
              </a:defRPr>
            </a:pPr>
            <a:r>
              <a:t>[INFO] Founder: Roberto Guido (UC San Diego / NYU Stern)</a:t>
            </a:r>
          </a:p>
          <a:p>
            <a:pPr>
              <a:spcAft>
                <a:spcPts val="600"/>
              </a:spcAft>
              <a:defRPr sz="1100">
                <a:solidFill>
                  <a:srgbClr val="D99B26"/>
                </a:solidFill>
                <a:latin typeface="Courier New"/>
              </a:defRPr>
            </a:pPr>
            <a:r>
              <a:t>[INFO] Core Focus: React UI + Workday Finance + Applied AI</a:t>
            </a:r>
          </a:p>
          <a:p>
            <a:pPr>
              <a:spcAft>
                <a:spcPts val="600"/>
              </a:spcAft>
              <a:defRPr sz="1100">
                <a:solidFill>
                  <a:srgbClr val="35B9CC"/>
                </a:solidFill>
                <a:latin typeface="Courier New"/>
              </a:defRPr>
            </a:pPr>
            <a:r>
              <a:t>[RUN] Deployment check: HITL Safety Gates ... OK</a:t>
            </a:r>
          </a:p>
          <a:p>
            <a:pPr>
              <a:spcAft>
                <a:spcPts val="600"/>
              </a:spcAft>
              <a:defRPr sz="1100">
                <a:solidFill>
                  <a:srgbClr val="35B9CC"/>
                </a:solidFill>
                <a:latin typeface="Courier New"/>
              </a:defRPr>
            </a:pPr>
            <a:r>
              <a:t>[SUCCESS] Practice active. Ready for partner referrals.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01 / 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2770632" cy="292608"/>
          </a:xfrm>
          <a:prstGeom prst="roundRect">
            <a:avLst/>
          </a:prstGeom>
          <a:solidFill>
            <a:srgbClr val="EFE9D8"/>
          </a:solidFill>
          <a:ln w="12700">
            <a:solidFill>
              <a:srgbClr val="2B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277063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CAPABILITIES &amp; SERVICES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Bridging Engineering Discipline with Business Outcomes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3328416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9B26"/>
                </a:solidFill>
                <a:latin typeface="Courier New"/>
              </a:defRPr>
            </a:pPr>
            <a:r>
              <a:t>[ 01_UI ]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Custom Interfaces</a:t>
            </a:r>
          </a:p>
          <a:p>
            <a:pPr>
              <a:defRPr sz="1400">
                <a:solidFill>
                  <a:srgbClr val="454337"/>
                </a:solidFill>
                <a:latin typeface="Helvetica"/>
              </a:defRPr>
            </a:pPr>
            <a:r>
              <a:t>High-performance React web applications and intuitive user experiences designed for rapid workflow execution.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20240"/>
            <a:ext cx="3328416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9B26"/>
                </a:solidFill>
                <a:latin typeface="Courier New"/>
              </a:defRPr>
            </a:pPr>
            <a:r>
              <a:t>[ 02_ERP ]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Systems Integration</a:t>
            </a:r>
          </a:p>
          <a:p>
            <a:pPr>
              <a:defRPr sz="1400">
                <a:solidFill>
                  <a:srgbClr val="454337"/>
                </a:solidFill>
                <a:latin typeface="Helvetica"/>
              </a:defRPr>
            </a:pPr>
            <a:r>
              <a:t>Deep financial backend integrations (Workday Finance &amp; Adaptive Planning), PostgreSQL databases, and enterprise APIs.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920240"/>
            <a:ext cx="3328416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194560"/>
            <a:ext cx="2779776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D99B26"/>
                </a:solidFill>
                <a:latin typeface="Courier New"/>
              </a:defRPr>
            </a:pPr>
            <a:r>
              <a:t>[ 03_MCP ]</a:t>
            </a:r>
          </a:p>
          <a:p>
            <a:pPr>
              <a:spcAft>
                <a:spcPts val="1400"/>
              </a:spcAft>
              <a:defRPr sz="1900" b="1">
                <a:solidFill>
                  <a:srgbClr val="16161A"/>
                </a:solidFill>
                <a:latin typeface="Helvetica"/>
              </a:defRPr>
            </a:pPr>
            <a:r>
              <a:t>Applied AI &amp; Automation</a:t>
            </a:r>
          </a:p>
          <a:p>
            <a:pPr>
              <a:defRPr sz="1400">
                <a:solidFill>
                  <a:srgbClr val="454337"/>
                </a:solidFill>
                <a:latin typeface="Helvetica"/>
              </a:defRPr>
            </a:pPr>
            <a:r>
              <a:t>Custom Model Context Protocol (MCP) servers, LLM orchestration, and human-in-the-loop (HITL) AI agents.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02 / TARGET PROFILE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3072384" cy="292608"/>
          </a:xfrm>
          <a:prstGeom prst="roundRect">
            <a:avLst/>
          </a:prstGeom>
          <a:solidFill>
            <a:srgbClr val="EFE9D8"/>
          </a:solidFill>
          <a:ln w="12700">
            <a:solidFill>
              <a:srgbClr val="D99B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3072384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IDEAL CLIENT PROFILE (ICP)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Who Benefits Most From Our Practice?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516636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2B59D9"/>
                </a:solidFill>
                <a:latin typeface="Courier New"/>
              </a:defRPr>
            </a:pPr>
            <a:r>
              <a:t>TARGET ORGANIZATIONS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Mid-Market Enterprises: </a:t>
            </a:r>
            <a:r>
              <a:rPr b="0">
                <a:solidFill>
                  <a:srgbClr val="454337"/>
                </a:solidFill>
                <a:latin typeface="Helvetica"/>
              </a:rPr>
              <a:t>Established operations needing custom tool integration.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Fast-Growing SMBs: </a:t>
            </a:r>
            <a:r>
              <a:rPr b="0">
                <a:solidFill>
                  <a:srgbClr val="454337"/>
                </a:solidFill>
                <a:latin typeface="Helvetica"/>
              </a:rPr>
              <a:t>Scaling teams outgrowing spreadsheets or disconnected SaaS apps.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Venture-Backed Startups: </a:t>
            </a:r>
            <a:r>
              <a:rPr b="0">
                <a:solidFill>
                  <a:srgbClr val="454337"/>
                </a:solidFill>
                <a:latin typeface="Helvetica"/>
              </a:rPr>
              <a:t>Teams needing high-velocity technical execution &amp; architecture.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PE / VC Portcos: </a:t>
            </a:r>
            <a:r>
              <a:rPr b="0">
                <a:solidFill>
                  <a:srgbClr val="454337"/>
                </a:solidFill>
                <a:latin typeface="Helvetica"/>
              </a:rPr>
              <a:t>Portfolio companies streamlining back-office operational efficiency.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20240"/>
            <a:ext cx="516636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9456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9B26"/>
                </a:solidFill>
                <a:latin typeface="Courier New"/>
              </a:defRPr>
            </a:pPr>
            <a:r>
              <a:t>KEY DECISION MAKERS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CTOs &amp; VPs of Engineering: </a:t>
            </a:r>
            <a:r>
              <a:rPr b="0">
                <a:solidFill>
                  <a:srgbClr val="454337"/>
                </a:solidFill>
                <a:latin typeface="Helvetica"/>
              </a:rPr>
              <a:t>Offloading specialized integration &amp; AI agent frontends.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CFOs &amp; Finance Directors: </a:t>
            </a:r>
            <a:r>
              <a:rPr b="0">
                <a:solidFill>
                  <a:srgbClr val="454337"/>
                </a:solidFill>
                <a:latin typeface="Helvetica"/>
              </a:rPr>
              <a:t>Struggling with Workday/ERP data bottlenecks and reporting.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VPs of Operations: </a:t>
            </a:r>
            <a:r>
              <a:rPr b="0">
                <a:solidFill>
                  <a:srgbClr val="454337"/>
                </a:solidFill>
                <a:latin typeface="Helvetica"/>
              </a:rPr>
              <a:t>Seeking to eliminate manual document &amp; workflow overhead.</a:t>
            </a:r>
          </a:p>
          <a:p>
            <a:pPr>
              <a:spcAft>
                <a:spcPts val="800"/>
              </a:spcAft>
              <a:defRPr b="1" sz="1200">
                <a:solidFill>
                  <a:srgbClr val="16161A"/>
                </a:solidFill>
                <a:latin typeface="Courier New"/>
              </a:defRPr>
            </a:pPr>
            <a:r>
              <a:t>› Founders &amp; Product Leaders: </a:t>
            </a:r>
            <a:r>
              <a:rPr b="0">
                <a:solidFill>
                  <a:srgbClr val="454337"/>
                </a:solidFill>
                <a:latin typeface="Helvetica"/>
              </a:rPr>
              <a:t>Building mission-critical web software under tight deadlines.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03 / REFERRAL SIGNALS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1965960" cy="292608"/>
          </a:xfrm>
          <a:prstGeom prst="roundRect">
            <a:avLst/>
          </a:prstGeom>
          <a:solidFill>
            <a:srgbClr val="EFE9D8"/>
          </a:solidFill>
          <a:ln w="12700">
            <a:solidFill>
              <a:srgbClr val="2B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196596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TRIGGER SIGNALS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What Prospects Say Right Before They Need 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874519"/>
            <a:ext cx="1072865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84247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Courier New"/>
              </a:defRPr>
            </a:pPr>
            <a:r>
              <a:t>SIGNAL 01 // DISCONNECTED BACKENDS &amp; ERPS</a:t>
            </a:r>
          </a:p>
          <a:p>
            <a:pPr>
              <a:defRPr sz="1300" i="1">
                <a:solidFill>
                  <a:srgbClr val="16161A"/>
                </a:solidFill>
                <a:latin typeface="Helvetica"/>
              </a:defRPr>
            </a:pPr>
            <a:r>
              <a:t>“Our backend finance systems (Workday/ERP/PostgreSQL) don’t connect cleanly to our front-end interfaces or modern software tools.”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39"/>
            <a:ext cx="1072865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01567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Courier New"/>
              </a:defRPr>
            </a:pPr>
            <a:r>
              <a:t>SIGNAL 02 // AI AMBITIONS VS. ENTERPRISE SECURITY</a:t>
            </a:r>
          </a:p>
          <a:p>
            <a:pPr>
              <a:defRPr sz="1300" i="1">
                <a:solidFill>
                  <a:srgbClr val="16161A"/>
                </a:solidFill>
                <a:latin typeface="Helvetica"/>
              </a:defRPr>
            </a:pPr>
            <a:r>
              <a:t>“We want to leverage AI agents and LLMs, but we need strict data security, enterprise controls, and human-in-the-loop (HITL) oversight.”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09160"/>
            <a:ext cx="10728655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18888"/>
            <a:ext cx="101800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B59D9"/>
                </a:solidFill>
                <a:latin typeface="Courier New"/>
              </a:defRPr>
            </a:pPr>
            <a:r>
              <a:t>SIGNAL 03 // MANUAL PROCESS BOTTLENECKS</a:t>
            </a:r>
          </a:p>
          <a:p>
            <a:pPr>
              <a:defRPr sz="1300" i="1">
                <a:solidFill>
                  <a:srgbClr val="16161A"/>
                </a:solidFill>
                <a:latin typeface="Helvetica"/>
              </a:defRPr>
            </a:pPr>
            <a:r>
              <a:t>“Our operations team is bogged down manually processing invoices, reconciling financial records, or running repetitive cross-platform workflows.”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04 / TRACK RECORD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2368296" cy="292608"/>
          </a:xfrm>
          <a:prstGeom prst="roundRect">
            <a:avLst/>
          </a:prstGeom>
          <a:solidFill>
            <a:srgbClr val="EFE9D8"/>
          </a:solidFill>
          <a:ln w="12700">
            <a:solidFill>
              <a:srgbClr val="D99B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2368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PROVEN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Tested Against Real Operational Systems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[ ENTERPRISE INTEGRATION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Workday Finance MCP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Engineered Model Context Protocol (MCP) servers connecting Workday Finance &amp; Adaptive Planning directly to custom AI agent workflows.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[ VOICE AI HARDWARE &amp; SOFTWARE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Encounter AI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Designed hardware &amp; software voice AI ordering systems for drive-thrus &amp; kiosks. Backed by Morgan Stanley Inclusive Ventures Lab.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Courier New"/>
              </a:defRPr>
            </a:pPr>
            <a:r>
              <a:t>[ Appt Helper · Open Cita · Border Bills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In-House Products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Built and launched our own proprietary software applications to prove technical architecture before selling to clients.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05 / DISQUALIFIERS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2267712" cy="292608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226771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DC2626"/>
                </a:solidFill>
                <a:latin typeface="Courier New"/>
              </a:defRPr>
            </a:pPr>
            <a:r>
              <a:t>FILTERING BAD FITS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Who is NOT a Fit? (Protects Referral Quality)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516636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DC2626"/>
                </a:solidFill>
                <a:latin typeface="Courier New"/>
              </a:defRPr>
            </a:pPr>
            <a:r>
              <a:t>❌ LOW-COST TEMPLATE PROJECTS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Looking for offshore body-shopping or commoditized hourly rates.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Basic WordPress brochure sites or generic no-code template setups.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No engineering budget or unwilling to invest in custom architecture.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Unclear business goals without measurable outcome targets.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20240"/>
            <a:ext cx="5166360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194560"/>
            <a:ext cx="4617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DC2626"/>
                </a:solidFill>
                <a:latin typeface="Courier New"/>
              </a:defRPr>
            </a:pPr>
            <a:r>
              <a:t>❌ UN-VETTED "AI HYPE" PROJECTS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Seeking flashy AI wrappers without backend integration or API access.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Unwilling to maintain data hygiene, security controls, or HITL oversight.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Expectations of automated AI magic without structured workflow design.</a:t>
            </a:r>
          </a:p>
          <a:p>
            <a:pPr>
              <a:spcAft>
                <a:spcPts val="800"/>
              </a:spcAft>
              <a:defRPr sz="1300">
                <a:solidFill>
                  <a:srgbClr val="454337"/>
                </a:solidFill>
                <a:latin typeface="Helvetica"/>
              </a:defRPr>
            </a:pPr>
            <a:r>
              <a:t>✕  No internal subject matter expert to validate AI outputs.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06 / ENGAGEMENT MODELS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822960"/>
            <a:ext cx="2167128" cy="292608"/>
          </a:xfrm>
          <a:prstGeom prst="roundRect">
            <a:avLst/>
          </a:prstGeom>
          <a:solidFill>
            <a:srgbClr val="EFE9D8"/>
          </a:solidFill>
          <a:ln w="12700">
            <a:solidFill>
              <a:srgbClr val="2B5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859536"/>
            <a:ext cx="2167128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ENGAGEMENT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6161A"/>
                </a:solidFill>
                <a:latin typeface="Helvetica"/>
              </a:defRPr>
            </a:pPr>
            <a:r>
              <a:t>Flexible Engagement Models for Clients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[ 2 - 4 WEEKS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Low-risk initial engagement to build a working prototype, validate API integrations (e.g. Workday/MCP), and prove feasibility.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PROJECT-BASED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End-to-end custom React web software, backend integration pipeline, automated AI workflow, and production deployment.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1920240"/>
            <a:ext cx="3328416" cy="3931920"/>
          </a:xfrm>
          <a:prstGeom prst="roundRect">
            <a:avLst/>
          </a:prstGeom>
          <a:solidFill>
            <a:srgbClr val="FFFFFF"/>
          </a:solidFill>
          <a:ln>
            <a:solidFill>
              <a:srgbClr val="C9C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194560"/>
            <a:ext cx="2779776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Courier New"/>
              </a:defRPr>
            </a:pPr>
            <a:r>
              <a:t>[ MONTHLY RETAINER ]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454337"/>
                </a:solidFill>
                <a:latin typeface="Helvetica"/>
              </a:defRPr>
            </a:pPr>
            <a:r>
              <a:t>Ongoing technical leadership, architecture reviews, AI readiness roadmap, and engineering team guidance.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37160"/>
            <a:ext cx="320040" cy="320040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2004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Courier New"/>
              </a:defRPr>
            </a:pPr>
            <a:r>
              <a:t>›_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"/>
            <a:ext cx="4114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64592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100">
                <a:solidFill>
                  <a:srgbClr val="D99B26"/>
                </a:solidFill>
                <a:latin typeface="Courier New"/>
              </a:defRPr>
            </a:pPr>
            <a:r>
              <a:t>07 / MAKE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00584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Helvetica"/>
              </a:defRPr>
            </a:pPr>
            <a:r>
              <a:t>How to Make the Introduction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728655" cy="3291840"/>
          </a:xfrm>
          <a:prstGeom prst="round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645920"/>
            <a:ext cx="10728655" cy="365760"/>
          </a:xfrm>
          <a:prstGeom prst="rect">
            <a:avLst/>
          </a:prstGeom>
          <a:solidFill>
            <a:srgbClr val="1A1A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68680" y="1755648"/>
            <a:ext cx="128016" cy="128016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51560" y="1755648"/>
            <a:ext cx="128016" cy="128016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234440" y="1755648"/>
            <a:ext cx="128016" cy="128016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719072"/>
            <a:ext cx="98142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9CA3AF"/>
                </a:solidFill>
                <a:latin typeface="Courier New"/>
              </a:defRPr>
            </a:pPr>
            <a:r>
              <a:t>bash — email_intro_template.txt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48840"/>
            <a:ext cx="10180015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  <a:r>
              <a:t>RECOMMENDED EMAIL INTRO TEMPLATE:</a:t>
            </a:r>
          </a:p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  <a:r>
              <a:t>“Hi [Name] — I’d like to introduce you to Roberto Guido, Founder &amp; Principal Engineer at Technology Consultants.</a:t>
            </a:r>
          </a:p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</a:p>
          <a:p>
            <a:pPr>
              <a:spcAft>
                <a:spcPts val="600"/>
              </a:spcAft>
              <a:defRPr sz="1100">
                <a:solidFill>
                  <a:srgbClr val="E5E7EB"/>
                </a:solidFill>
                <a:latin typeface="Courier New"/>
              </a:defRPr>
            </a:pPr>
            <a:r>
              <a:t>They specialize in bridging custom web interfaces with complex backend systems (like Workday Finance) and building secure, human-in-the-loop AI automations. Given what you mentioned about [pain point], I thought it’d be great for you two to connect.”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Helvetica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D99B26"/>
                </a:solidFill>
                <a:latin typeface="Courier New"/>
              </a:defRPr>
            </a:pPr>
            <a:r>
              <a:t>Website: technologyconsultants.ventures   ·   San Diego &amp; Tijuana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C9C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46520"/>
            <a:ext cx="73152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>
                <a:solidFill>
                  <a:srgbClr val="5F5C52"/>
                </a:solidFill>
                <a:latin typeface="Courier New"/>
              </a:defRPr>
            </a:pPr>
            <a:r>
              <a:t>technologyconsultants.ventures  ·  San Diego · Tijuana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1375" y="6446520"/>
            <a:ext cx="18288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000">
                <a:solidFill>
                  <a:srgbClr val="5F5C52"/>
                </a:solidFill>
                <a:latin typeface="Courier New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