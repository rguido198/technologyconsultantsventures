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82296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WEBSITES  ·  AUTOMATION  ·  AI AGENTS    |    ● Booking projects · Q3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4300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6161A"/>
                </a:solidFill>
                <a:latin typeface="Helvetica Neue"/>
              </a:defRPr>
            </a:pPr>
            <a:r>
              <a:t>We build technology around your people — not instead of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107286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43200"/>
            <a:ext cx="101800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WHO TO SEND MY WAY  —  PARTNER REFERRAL GUIDE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We build software that takes repetitive work off your team’s plate — from automated web applications to AI agents with human-in-the-loop oversight wherever money, trust, or judgment is on the 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2560320" cy="438912"/>
          </a:xfrm>
          <a:prstGeom prst="roundRect">
            <a:avLst/>
          </a:prstGeom>
          <a:solidFill>
            <a:srgbClr val="16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Helvetica Neue"/>
              </a:defRPr>
            </a:pPr>
            <a:r>
              <a:t>Book a 30-min call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062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Roberto Guido  |  Founder &amp; Principal Engineer  (UC San Diego EE · NYU Stern MBA)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defRPr sz="1100">
                <a:solidFill>
                  <a:srgbClr val="454337"/>
                </a:solidFill>
                <a:latin typeface="Helvetica Neue"/>
              </a:defRPr>
            </a:pPr>
            <a:r>
              <a:t>Real users today on self-developed products.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8920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defRPr sz="110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48920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defRPr sz="110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8920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defRPr sz="110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stack.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SERVICES &amp;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Bridging Engineering Discipline with Business Outcomes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240279"/>
            <a:ext cx="268833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Custom Interfaces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Custom web interfaces built for human speed and intuitive execution. High-performance React applications tailored to daily workflow needs.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240279"/>
            <a:ext cx="268833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Systems Integration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Deep financial backend integrations (Workday Finance &amp; Adaptive Planning), PostgreSQL databases, and enterprise REST APIs.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240279"/>
            <a:ext cx="268833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Applied AI &amp; Automation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Custom Model Context Protocol (MCP) servers, LLM orchestration, and human-in-the-loop (HITL) AI agents for operational trust.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TARGET AUDIENCE &amp; ICP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Who Benefits Most From Our Practice?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51572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94559"/>
            <a:ext cx="46085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TARGET ORGANIZATIONS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Mid-Market Enterprises: </a:t>
            </a:r>
            <a:r>
              <a:rPr b="0">
                <a:solidFill>
                  <a:srgbClr val="454337"/>
                </a:solidFill>
              </a:rPr>
              <a:t>Established operations needing custom tool integration.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Fast-Growing SMBs: </a:t>
            </a:r>
            <a:r>
              <a:rPr b="0">
                <a:solidFill>
                  <a:srgbClr val="454337"/>
                </a:solidFill>
              </a:rPr>
              <a:t>Scaling teams outgrowing spreadsheets or disconnected SaaS apps.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Venture-Backed Startups: </a:t>
            </a:r>
            <a:r>
              <a:rPr b="0">
                <a:solidFill>
                  <a:srgbClr val="454337"/>
                </a:solidFill>
              </a:rPr>
              <a:t>Teams needing high-velocity technical execution &amp; architecture.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PE / VC Portcos: </a:t>
            </a:r>
            <a:r>
              <a:rPr b="0">
                <a:solidFill>
                  <a:srgbClr val="454337"/>
                </a:solidFill>
              </a:rPr>
              <a:t>Portfolio companies streamlining back-office operational efficiency.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874519"/>
            <a:ext cx="51572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194559"/>
            <a:ext cx="46085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KEY DECISION MAKERS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CTOs &amp; VPs of Engineering: </a:t>
            </a:r>
            <a:r>
              <a:rPr b="0">
                <a:solidFill>
                  <a:srgbClr val="454337"/>
                </a:solidFill>
              </a:rPr>
              <a:t>Offloading specialized integration &amp; AI agent frontends.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CFOs &amp; Finance Directors: </a:t>
            </a:r>
            <a:r>
              <a:rPr b="0">
                <a:solidFill>
                  <a:srgbClr val="454337"/>
                </a:solidFill>
              </a:rPr>
              <a:t>Struggling with Workday/ERP data bottlenecks and reporting.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VPs of Operations: </a:t>
            </a:r>
            <a:r>
              <a:rPr b="0">
                <a:solidFill>
                  <a:srgbClr val="454337"/>
                </a:solidFill>
              </a:rPr>
              <a:t>Seeking to eliminate manual document &amp; workflow overhead.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Founders &amp; Product Leaders: </a:t>
            </a:r>
            <a:r>
              <a:rPr b="0">
                <a:solidFill>
                  <a:srgbClr val="454337"/>
                </a:solidFill>
              </a:rPr>
              <a:t>Building mission-critical web software under tight deadlines.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REFERRAL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What Prospects Say Right Before They Need 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11679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SIGNAL 01  ·  DISCONNECTED BACKENDS &amp; ERPS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“Our backend finance systems (Workday/ERP/PostgreSQL) don’t connect cleanly to our front-end interfaces or modern software tools.”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91839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28999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SIGNAL 02  ·  AI AMBITIONS VS. ENTERPRISE SECURITY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“We want to leverage AI agents, but we need strict data security, enterprise controls, and human-in-the-loop (HITL) oversight.”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SIGNAL 03  ·  MANUAL PROCESS BOTTLENECKS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“Our operations team is bogged down manually processing invoices, reconciling financial records, or running repetitive cross-platform workflows.”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PROVEN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Tested Against Real Operational Systems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ENTERPRISE INTEGRATION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Engineered Model Context Protocol (MCP) servers connecting Workday Finance &amp; Adaptive Planning directly to custom AI agent workflows.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VOICE AI HARDWARE &amp; SOFTWARE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Designed hardware &amp; software voice AI ordering systems for drive-thrus &amp; kiosks. Backed by Morgan Stanley Inclusive Ventures Lab.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Built and launched our own proprietary software applications to prove technical architecture before selling to clients.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30368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Real users today on self-developed products.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5230368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5230368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5230368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stack.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FILTERING BAD 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Who is NOT a Fit? (Protects Referral Quality)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51572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94559"/>
            <a:ext cx="46085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LOW-COST TEMPLATE PROJECTS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Looking for offshore body-shopping or commoditized hourly rates.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Basic WordPress brochure sites or generic no-code template setups.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No engineering budget or unwilling to invest in custom architecture.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Unclear business goals without measurable outcome targets.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874519"/>
            <a:ext cx="51572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194559"/>
            <a:ext cx="46085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UN-VETTED "AI HYPE" PROJECTS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Seeking flashy AI wrappers without backend integration or API access.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Unwilling to maintain data hygiene, security controls, or HITL oversight.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Expectations of automated AI magic without structured workflow design.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No internal subject matter expert to validate AI outputs.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ENGAGEMENT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Flexible Engagement Models for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2 - 4 WEEKS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Low-risk initial engagement to build a working prototype, validate API integrations (e.g. Workday/MCP), and prove feasibility.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PROJECT-BASED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End-to-end custom React web software, backend integration pipeline, automated AI workflow, and production deployment.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MONTHLY RETAINER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Ongoing technical leadership, architecture reviews, AI readiness roadmap, and engineering team guidance.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How to Make the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10728655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57400"/>
            <a:ext cx="1018001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RECOMMENDED EMAIL INTRO TEMPLATE:</a:t>
            </a:r>
          </a:p>
          <a:p>
            <a:pPr>
              <a:spcAft>
                <a:spcPts val="800"/>
              </a:spcAft>
              <a:defRPr sz="1500">
                <a:solidFill>
                  <a:srgbClr val="16161A"/>
                </a:solidFill>
                <a:latin typeface="Helvetica Neue"/>
              </a:defRPr>
            </a:pPr>
            <a:r>
              <a:t>“Hi [Name] — I’d like to introduce you to Roberto Guido, Founder &amp; Principal Engineer at Technology Consultants.</a:t>
            </a:r>
          </a:p>
          <a:p>
            <a:pPr>
              <a:defRPr sz="1500">
                <a:solidFill>
                  <a:srgbClr val="16161A"/>
                </a:solidFill>
                <a:latin typeface="Helvetica Neue"/>
              </a:defRPr>
            </a:pPr>
            <a:r>
              <a:t>They build software around your people — bridging custom web interfaces with complex backend systems (like Workday Finance) and secure, human-in-the-loop AI automations. Given what you mentioned about [pain point], I thought it’d be great for you two to connect.”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2B59D9"/>
                </a:solidFill>
                <a:latin typeface="Helvetica Neue"/>
              </a:defRPr>
            </a:pPr>
            <a:r>
              <a:t>Website: technologyconsultants.ventures   ·   San Diego &amp; Tijuana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