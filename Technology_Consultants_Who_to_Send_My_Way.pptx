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PARTNER REFERRAL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6161A"/>
                </a:solidFill>
                <a:latin typeface="Helvetica Neue"/>
              </a:defRPr>
            </a:pPr>
            <a:r>
              <a:t>We build technology around your people — not instead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>
                <a:solidFill>
                  <a:srgbClr val="454337"/>
                </a:solidFill>
                <a:latin typeface="Helvetica Neue"/>
              </a:defRPr>
            </a:pPr>
            <a:r>
              <a:t>We build the software that takes work off your team’s plate — from automated web applications to AI agents that answer phones, read paperwork, and run repetitive jobs with a person in the loop wherever money, trust, or judgment is on the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515721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CORE CAPABILITIES</a:t>
            </a:r>
          </a:p>
          <a:p>
            <a:pPr>
              <a:defRPr sz="1250">
                <a:solidFill>
                  <a:srgbClr val="16161A"/>
                </a:solidFill>
                <a:latin typeface="Helvetica Neue"/>
              </a:defRPr>
            </a:pPr>
            <a:r>
              <a:t>Custom React &amp; TypeScript Web Apps  ·  Workday Finance &amp; Adaptive Planning Integrations  ·  Human-in-the-Loop (HITL)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216" y="3611880"/>
            <a:ext cx="515721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D99B26"/>
                </a:solidFill>
                <a:latin typeface="Helvetica Neue"/>
              </a:defRPr>
            </a:pPr>
            <a:r>
              <a:t>PRACTICE LEADERSHIP</a:t>
            </a:r>
          </a:p>
          <a:p>
            <a:pPr>
              <a:spcAft>
                <a:spcPts val="400"/>
              </a:spcAft>
              <a:defRPr sz="1300" b="1">
                <a:solidFill>
                  <a:srgbClr val="16161A"/>
                </a:solidFill>
                <a:latin typeface="Helvetica Neue"/>
              </a:defRPr>
            </a:pPr>
            <a:r>
              <a:t>Roberto Guido  —  Founder &amp; Principal Engineer</a:t>
            </a:r>
          </a:p>
          <a:p>
            <a:pPr>
              <a:defRPr sz="1150">
                <a:solidFill>
                  <a:srgbClr val="454337"/>
                </a:solidFill>
                <a:latin typeface="Helvetica Neue"/>
              </a:defRPr>
            </a:pPr>
            <a:r>
              <a:t>BS Electrical Engineering (UC San Diego)  ·  MBA (NYU Stern)</a:t>
            </a:r>
            <a:br/>
            <a:r>
              <a:t>Operating in San Diego, CA &amp; Tijuana, MX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6161A"/>
                </a:solidFill>
                <a:latin typeface="Helvetica Neue"/>
              </a:defRPr>
            </a:pPr>
            <a:r>
              <a:t>In production.</a:t>
            </a:r>
          </a:p>
          <a:p>
            <a:pPr>
              <a:defRPr sz="1050">
                <a:solidFill>
                  <a:srgbClr val="454337"/>
                </a:solidFill>
                <a:latin typeface="Helvetica Neue"/>
              </a:defRPr>
            </a:pPr>
            <a:r>
              <a:t>Real users today on self-developed 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6161A"/>
                </a:solidFill>
                <a:latin typeface="Helvetica Neue"/>
              </a:defRPr>
            </a:pPr>
            <a:r>
              <a:t>Senior team.</a:t>
            </a:r>
          </a:p>
          <a:p>
            <a:pPr>
              <a:defRPr sz="1050">
                <a:solidFill>
                  <a:srgbClr val="454337"/>
                </a:solidFill>
                <a:latin typeface="Helvetica Neue"/>
              </a:defRPr>
            </a:pPr>
            <a:r>
              <a:t>The people who pitch your project ship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6161A"/>
                </a:solidFill>
                <a:latin typeface="Helvetica Neue"/>
              </a:defRPr>
            </a:pPr>
            <a:r>
              <a:t>Code first.</a:t>
            </a:r>
          </a:p>
          <a:p>
            <a:pPr>
              <a:defRPr sz="1050">
                <a:solidFill>
                  <a:srgbClr val="454337"/>
                </a:solidFill>
                <a:latin typeface="Helvetica Neue"/>
              </a:defRPr>
            </a:pPr>
            <a:r>
              <a:t>No decks before working software.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6161A"/>
                </a:solidFill>
                <a:latin typeface="Helvetica Neue"/>
              </a:defRPr>
            </a:pPr>
            <a:r>
              <a:t>One team.</a:t>
            </a:r>
          </a:p>
          <a:p>
            <a:pPr>
              <a:defRPr sz="1050">
                <a:solidFill>
                  <a:srgbClr val="454337"/>
                </a:solidFill>
                <a:latin typeface="Helvetica Neue"/>
              </a:defRPr>
            </a:pPr>
            <a:r>
              <a:t>Interfaces &amp; automations: same stack.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SERVICES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Bridging Engineering Discipline with Business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900" b="1">
                <a:solidFill>
                  <a:srgbClr val="16161A"/>
                </a:solidFill>
                <a:latin typeface="Helvetica Neue"/>
              </a:defRPr>
            </a:pPr>
            <a:r>
              <a:t>Custom Interfaces</a:t>
            </a:r>
          </a:p>
          <a:p>
            <a:pPr>
              <a:spcAft>
                <a:spcPts val="16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High-performance React web applications built for human speed and intuitive execution.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Custom React &amp; TypeScript web apps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Responsive, accessible UX design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Direct payment &amp; order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900" b="1">
                <a:solidFill>
                  <a:srgbClr val="16161A"/>
                </a:solidFill>
                <a:latin typeface="Helvetica Neue"/>
              </a:defRPr>
            </a:pPr>
            <a:r>
              <a:t>Systems Integration</a:t>
            </a:r>
          </a:p>
          <a:p>
            <a:pPr>
              <a:spcAft>
                <a:spcPts val="16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Deep financial backend integrations, database architecture, and enterprise APIs.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Workday Finance &amp; Adaptive Planning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PostgreSQL database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REST &amp; GraphQL API 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900" b="1">
                <a:solidFill>
                  <a:srgbClr val="16161A"/>
                </a:solidFill>
                <a:latin typeface="Helvetica Neue"/>
              </a:defRPr>
            </a:pPr>
            <a:r>
              <a:t>Applied AI &amp; Automation</a:t>
            </a:r>
          </a:p>
          <a:p>
            <a:pPr>
              <a:spcAft>
                <a:spcPts val="16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Custom Model Context Protocol (MCP) servers and human-in-the-loop AI agents.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Custom MCP server deployment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LLM orchestration &amp; document extraction</a:t>
            </a:r>
          </a:p>
          <a:p>
            <a:pPr>
              <a:spcAft>
                <a:spcPts val="800"/>
              </a:spcAft>
              <a:defRPr sz="1200">
                <a:solidFill>
                  <a:srgbClr val="16161A"/>
                </a:solidFill>
                <a:latin typeface="Helvetica Neue"/>
              </a:defRPr>
            </a:pPr>
            <a:r>
              <a:t>•  Human-in-the-loop (HITL) safety 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TARGET AUDIENCE &amp;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Who Benefits Most From Our Practice?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TARGET ORGANIZATIONS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Mid-Market Enterprises: </a:t>
            </a:r>
            <a:r>
              <a:rPr b="0">
                <a:solidFill>
                  <a:srgbClr val="454337"/>
                </a:solidFill>
              </a:rPr>
              <a:t>Established operations needing custom tool integration.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Fast-Growing SMBs: </a:t>
            </a:r>
            <a:r>
              <a:rPr b="0">
                <a:solidFill>
                  <a:srgbClr val="454337"/>
                </a:solidFill>
              </a:rPr>
              <a:t>Scaling teams outgrowing spreadsheets or disconnected SaaS apps.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Venture-Backed Startups: </a:t>
            </a:r>
            <a:r>
              <a:rPr b="0">
                <a:solidFill>
                  <a:srgbClr val="454337"/>
                </a:solidFill>
              </a:rPr>
              <a:t>Teams needing high-velocity technical execution &amp; architecture.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PE / VC Portcos: </a:t>
            </a:r>
            <a:r>
              <a:rPr b="0">
                <a:solidFill>
                  <a:srgbClr val="454337"/>
                </a:solidFill>
              </a:rPr>
              <a:t>Portfolio companies streamlining back-office operational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KEY DECISION MAKERS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CTOs &amp; VPs of Engineering: </a:t>
            </a:r>
            <a:r>
              <a:rPr b="0">
                <a:solidFill>
                  <a:srgbClr val="454337"/>
                </a:solidFill>
              </a:rPr>
              <a:t>Offloading specialized integration &amp; AI agent frontends.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CFOs &amp; Finance Directors: </a:t>
            </a:r>
            <a:r>
              <a:rPr b="0">
                <a:solidFill>
                  <a:srgbClr val="454337"/>
                </a:solidFill>
              </a:rPr>
              <a:t>Struggling with Workday/ERP data bottlenecks and reporting.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VPs of Operations: </a:t>
            </a:r>
            <a:r>
              <a:rPr b="0">
                <a:solidFill>
                  <a:srgbClr val="454337"/>
                </a:solidFill>
              </a:rPr>
              <a:t>Seeking to eliminate manual document &amp; workflow overhead.</a:t>
            </a:r>
          </a:p>
          <a:p>
            <a:pPr>
              <a:spcAft>
                <a:spcPts val="1200"/>
              </a:spcAft>
              <a:defRPr b="1" sz="1300">
                <a:solidFill>
                  <a:srgbClr val="16161A"/>
                </a:solidFill>
                <a:latin typeface="Helvetica Neue"/>
              </a:defRPr>
            </a:pPr>
            <a:r>
              <a:t>•  Founders &amp; Product Leaders: </a:t>
            </a:r>
            <a:r>
              <a:rPr b="0">
                <a:solidFill>
                  <a:srgbClr val="454337"/>
                </a:solidFill>
              </a:rPr>
              <a:t>Building mission-critical web software under tight deadlines.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REFERRAL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What Prospects Say Right Before They Need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SIGNAL 01  ·  DISCONNECTED BACKENDS &amp; ERPS</a:t>
            </a:r>
          </a:p>
          <a:p>
            <a:pPr>
              <a:defRPr sz="1400">
                <a:solidFill>
                  <a:srgbClr val="16161A"/>
                </a:solidFill>
                <a:latin typeface="Helvetica Neue"/>
              </a:defRPr>
            </a:pPr>
            <a:r>
              <a:t>“Our backend finance systems (Workday/ERP/PostgreSQL) don’t connect cleanly to our front-end interfaces or modern software tools.”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8100" cy="10972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9B26"/>
                </a:solidFill>
                <a:latin typeface="Helvetica Neue"/>
              </a:defRPr>
            </a:pPr>
            <a:r>
              <a:t>SIGNAL 02  ·  AI AMBITIONS VS. ENTERPRISE SECURITY</a:t>
            </a:r>
          </a:p>
          <a:p>
            <a:pPr>
              <a:defRPr sz="1400">
                <a:solidFill>
                  <a:srgbClr val="16161A"/>
                </a:solidFill>
                <a:latin typeface="Helvetica Neue"/>
              </a:defRPr>
            </a:pPr>
            <a:r>
              <a:t>“We want to leverage AI agents, but we need strict data security, enterprise controls, and human-in-the-loop (HITL) oversight.”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SIGNAL 03  ·  MANUAL PROCESS BOTTLENECKS</a:t>
            </a:r>
          </a:p>
          <a:p>
            <a:pPr>
              <a:defRPr sz="1400">
                <a:solidFill>
                  <a:srgbClr val="16161A"/>
                </a:solidFill>
                <a:latin typeface="Helvetica Neue"/>
              </a:defRPr>
            </a:pPr>
            <a:r>
              <a:t>“Our operations team is bogged down manually processing invoices, reconciling financial records, or running repetitive cross-platform workflows.”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PROVEN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Tested Against Real Operational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99B26"/>
                </a:solidFill>
                <a:latin typeface="Helvetica Neue"/>
              </a:defRPr>
            </a:pPr>
            <a:r>
              <a:t>ENTERPRISE INTEGRATION</a:t>
            </a:r>
          </a:p>
          <a:p>
            <a:pPr>
              <a:spcAft>
                <a:spcPts val="10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Workday Finance MCP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Engineered Model Context Protocol (MCP) servers connecting Workday Finance &amp; Adaptive Planning directly to custom AI agent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B59D9"/>
                </a:solidFill>
                <a:latin typeface="Helvetica Neue"/>
              </a:defRPr>
            </a:pPr>
            <a:r>
              <a:t>VOICE AI HARDWARE &amp; SOFTWARE</a:t>
            </a:r>
          </a:p>
          <a:p>
            <a:pPr>
              <a:spcAft>
                <a:spcPts val="10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Encounter AI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Designed hardware &amp; software voice AI ordering systems for drive-thrus &amp; kiosks. Backed by Morgan Stanley Inclusive Ventures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B59D9"/>
                </a:solidFill>
                <a:latin typeface="Helvetica Neue"/>
              </a:defRPr>
            </a:pPr>
            <a:r>
              <a:t>Appt Helper · Open Cita · Border Bills</a:t>
            </a:r>
          </a:p>
          <a:p>
            <a:pPr>
              <a:spcAft>
                <a:spcPts val="10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In-House Products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Built and launched our own proprietary software applications to prove technical architecture before selling to clients.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6161A"/>
                </a:solidFill>
                <a:latin typeface="Helvetica Neue"/>
              </a:defRPr>
            </a:pPr>
            <a:r>
              <a:t>In production.</a:t>
            </a:r>
          </a:p>
          <a:p>
            <a:pPr>
              <a:spcBef>
                <a:spcPts val="200"/>
              </a:spcBef>
              <a:defRPr sz="1000">
                <a:solidFill>
                  <a:srgbClr val="454337"/>
                </a:solidFill>
                <a:latin typeface="Helvetica Neue"/>
              </a:defRPr>
            </a:pPr>
            <a:r>
              <a:t>Real users today on self-developed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6161A"/>
                </a:solidFill>
                <a:latin typeface="Helvetica Neue"/>
              </a:defRPr>
            </a:pPr>
            <a:r>
              <a:t>Senior team.</a:t>
            </a:r>
          </a:p>
          <a:p>
            <a:pPr>
              <a:spcBef>
                <a:spcPts val="200"/>
              </a:spcBef>
              <a:defRPr sz="1000">
                <a:solidFill>
                  <a:srgbClr val="454337"/>
                </a:solidFill>
                <a:latin typeface="Helvetica Neue"/>
              </a:defRPr>
            </a:pPr>
            <a:r>
              <a:t>The people who pitch your project ship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6161A"/>
                </a:solidFill>
                <a:latin typeface="Helvetica Neue"/>
              </a:defRPr>
            </a:pPr>
            <a:r>
              <a:t>Code first.</a:t>
            </a:r>
          </a:p>
          <a:p>
            <a:pPr>
              <a:spcBef>
                <a:spcPts val="200"/>
              </a:spcBef>
              <a:defRPr sz="1000">
                <a:solidFill>
                  <a:srgbClr val="454337"/>
                </a:solidFill>
                <a:latin typeface="Helvetica Neue"/>
              </a:defRPr>
            </a:pPr>
            <a:r>
              <a:t>No decks before working software.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6161A"/>
                </a:solidFill>
                <a:latin typeface="Helvetica Neue"/>
              </a:defRPr>
            </a:pPr>
            <a:r>
              <a:t>One team.</a:t>
            </a:r>
          </a:p>
          <a:p>
            <a:pPr>
              <a:spcBef>
                <a:spcPts val="200"/>
              </a:spcBef>
              <a:defRPr sz="1000">
                <a:solidFill>
                  <a:srgbClr val="454337"/>
                </a:solidFill>
                <a:latin typeface="Helvetica Neue"/>
              </a:defRPr>
            </a:pPr>
            <a:r>
              <a:t>Interfaces &amp; automations: same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FILTERING BAD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Who is NOT a Fit? (Protects Referral Quality)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LOW-COST TEMPLATE PROJECTS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Looking for offshore body-shopping or commoditized hourly rates.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Basic WordPress brochure sites or generic no-code template setups.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No engineering budget or unwilling to invest in custom architecture.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Unclear business goals without measurable outcome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UN-VETTED "AI HYPE" PROJECTS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Seeking flashy AI wrappers without backend integration or API access.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Unwilling to maintain data hygiene, security controls, or HITL oversight.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Expectations of automated AI magic without structured workflow design.</a:t>
            </a:r>
          </a:p>
          <a:p>
            <a:pPr>
              <a:spcAft>
                <a:spcPts val="1000"/>
              </a:spcAft>
              <a:defRPr sz="1250">
                <a:solidFill>
                  <a:srgbClr val="454337"/>
                </a:solidFill>
                <a:latin typeface="Helvetica Neue"/>
              </a:defRPr>
            </a:pPr>
            <a:r>
              <a:t>✕  No internal subject matter expert to validate AI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ENGAGEMENT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Flexible Engagement Models for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2 - 4 WEEKS</a:t>
            </a:r>
          </a:p>
          <a:p>
            <a:pPr>
              <a:spcAft>
                <a:spcPts val="12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1. Proof-of-Concept Sprint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Low-risk initial engagement to build a working prototype, validate API integrations (e.g. Workday/MCP), and prove feasibility.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PROJECT-BASED</a:t>
            </a:r>
          </a:p>
          <a:p>
            <a:pPr>
              <a:spcAft>
                <a:spcPts val="12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2. Full Implementation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End-to-end custom React web software, backend integration pipeline, automated AI workflow, and production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MONTHLY RETAINER</a:t>
            </a:r>
          </a:p>
          <a:p>
            <a:pPr>
              <a:spcAft>
                <a:spcPts val="1200"/>
              </a:spcAft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3. Strategic Advisory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Ongoing technical leadership, architecture reviews, AI readiness roadmap, and engineering team guidance.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6161A"/>
                </a:solidFill>
                <a:latin typeface="Helvetica Neue"/>
              </a:defRPr>
            </a:pPr>
            <a:r>
              <a:t>How to Make the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RECOMMENDED EMAIL INTRO TEMPLATE</a:t>
            </a:r>
          </a:p>
          <a:p>
            <a:pPr>
              <a:spcAft>
                <a:spcPts val="1000"/>
              </a:spcAft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“Hi [Name] — I’d like to introduce you to Roberto Guido, Founder &amp; Principal Engineer at Technology Consultants.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They build software around your people — bridging custom web interfaces with complex backend systems (like Workday Finance) and secure, human-in-the-loop AI automations. Given what you mentioned about [pain point], I thought it’d be great for you two to connect.”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300">
                <a:solidFill>
                  <a:srgbClr val="2B59D9"/>
                </a:solidFill>
              </a:defRPr>
            </a:pPr>
            <a:r>
              <a:t>Website: technologyconsultants.ventures   ·   San Diego &amp;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36E62"/>
                </a:solidFill>
                <a:latin typeface="Helvetica Neue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