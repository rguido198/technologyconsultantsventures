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09728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9B26"/>
                </a:solidFill>
              </a:defRPr>
            </a:pPr>
            <a:r>
              <a:t>TECHNOLOGY CONSULTANTS</a:t>
            </a:r>
          </a:p>
          <a:p>
            <a:pPr>
              <a:spcBef>
                <a:spcPts val="1000"/>
              </a:spcBef>
              <a:spcAft>
                <a:spcPts val="1500"/>
              </a:spcAft>
              <a:defRPr sz="4400" b="1">
                <a:solidFill>
                  <a:srgbClr val="FFFFFF"/>
                </a:solidFill>
              </a:defRPr>
            </a:pPr>
            <a:r>
              <a:t>Who to Send My Way</a:t>
            </a:r>
          </a:p>
          <a:p>
            <a:pPr>
              <a:defRPr sz="2000">
                <a:solidFill>
                  <a:srgbClr val="B4B4BE"/>
                </a:solidFill>
              </a:defRPr>
            </a:pPr>
            <a:r>
              <a:t>Partner Referral Guide &amp; Ideal Client Profile</a:t>
            </a:r>
          </a:p>
          <a:p>
            <a:pPr>
              <a:spcBef>
                <a:spcPts val="3000"/>
              </a:spcBef>
              <a:defRPr sz="1300">
                <a:solidFill>
                  <a:srgbClr val="FFFFFF"/>
                </a:solidFill>
              </a:defRPr>
            </a:pPr>
            <a:r>
              <a:t>Roberto Guido  |  Founder &amp; Principal Engineer  |  UC San Diego EE · NYU Stern MBA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CORE PRACTICE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Bridging the Gap Between Engineering &amp; Business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Custom Interfaces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High-performance React web applications and intuitive software user experiences designed for rapid workflow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Systems Integration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Deep financial backend integrations (Workday Finance &amp; Adaptive Planning), PostgreSQL databases, and enterprise APIs.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0" y="1828800"/>
            <a:ext cx="3328416" cy="109728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B59D9"/>
                </a:solidFill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</a:defRPr>
            </a:pPr>
            <a:r>
              <a:t>Applied AI &amp; Automation</a:t>
            </a:r>
          </a:p>
          <a:p>
            <a:pPr>
              <a:defRPr sz="1400">
                <a:solidFill>
                  <a:srgbClr val="454337"/>
                </a:solidFill>
              </a:defRPr>
            </a:pPr>
            <a:r>
              <a:t>Custom MCP servers, LLM workflows, and human-in-the-loop AI agents tailored for real operational security.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TARGET AUDIENCE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Who Benefits Most From Our Practice?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B59D9"/>
                </a:solidFill>
              </a:defRPr>
            </a:pPr>
            <a:r>
              <a:t>Target Companies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Mid-Market Enterprises: </a:t>
            </a:r>
            <a:r>
              <a:rPr b="0">
                <a:solidFill>
                  <a:srgbClr val="454337"/>
                </a:solidFill>
              </a:rPr>
              <a:t>Companies with established operations needing custom tool integration.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Fast-Growing SMBs: </a:t>
            </a:r>
            <a:r>
              <a:rPr b="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Venture-Backed Startups: </a:t>
            </a:r>
            <a:r>
              <a:rPr b="0">
                <a:solidFill>
                  <a:srgbClr val="454337"/>
                </a:solidFill>
              </a:rPr>
              <a:t>Teams needing high-velocity technical execution and architecture.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PE / VC Portcos: </a:t>
            </a:r>
            <a:r>
              <a:rPr b="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D99B26"/>
                </a:solidFill>
              </a:defRPr>
            </a:pPr>
            <a:r>
              <a:t>Key Decision Makers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CTOs &amp; VPs of Engineering: </a:t>
            </a:r>
            <a:r>
              <a:rPr b="0">
                <a:solidFill>
                  <a:srgbClr val="454337"/>
                </a:solidFill>
              </a:rPr>
              <a:t>Looking to offload specialized integration &amp; AI agent frontends.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CFOs &amp; Finance Directors: </a:t>
            </a:r>
            <a:r>
              <a:rPr b="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VPs of Operations: </a:t>
            </a:r>
            <a:r>
              <a:rPr b="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</a:defRPr>
            </a:pPr>
            <a:r>
              <a:t>•  Founders &amp; Product Leaders: </a:t>
            </a:r>
            <a:r>
              <a:rPr b="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OPPORTUNITY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Trigger Signals: What They Say Before Needing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4520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1. Disconnected Backends &amp; ERPs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39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28999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2. AI Ambitions vs. Enterprise Security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“We want to leverage AI agents and LLMs, but we need strict data security, enterprise controls, and human-in-the-loop oversight.”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728655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B59D9"/>
                </a:solidFill>
              </a:defRPr>
            </a:pPr>
            <a:r>
              <a:t>3. Manual Process Bottlenecks</a:t>
            </a:r>
          </a:p>
          <a:p>
            <a:pPr>
              <a:defRPr sz="1300" i="1">
                <a:solidFill>
                  <a:srgbClr val="16161A"/>
                </a:solidFill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PROVEN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Track Record &amp; Real Operational Credentials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ENTERPRISE SYSTEMS INTEGRATION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Engineered Model Context Protocol (MCP) integrations connecting Workday Finance &amp; Adaptive Planning directly to custom AI agent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HARDWARE &amp; SOFTWARE VOICE AI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Designed hardware and software voice AI ordering systems for drive-thrus &amp; kiosks. Backed by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</a:defRPr>
            </a:pPr>
            <a:r>
              <a:t>In-House Product Suite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Built and launched our own proprietary software applications to prove technical architecture, scalability, and operating models before selling to clients.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FILTERING OUT BAD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Who is NOT a Fit? (Protects Referral Quality)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❌  Low-Cost Template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Looking for offshore body-shopping or commoditized hourly rates.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Basic WordPress brochure sites or generic template setups.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No engineering budget or unwilling to invest in custom architecture.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Unclear business goals without measurable outcome targets.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03120"/>
            <a:ext cx="4617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DC2626"/>
                </a:solidFill>
              </a:defRPr>
            </a:pPr>
            <a:r>
              <a:t>❌  Un-Vetted “AI Hype”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Seeking flashy AI wrappers without backend integration or API access.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Unwilling to maintain data hygiene, security controls, or human-in-the-loop checks.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Expectations of automated AI magic without structured workflow design.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</a:defRPr>
            </a:pPr>
            <a:r>
              <a:t>•  No internal subject matter expert to validate AI outputs.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</a:defRPr>
            </a:pPr>
            <a:r>
              <a:t>ENGAGEMENT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</a:defRPr>
            </a:pPr>
            <a:r>
              <a:t>Flexible Engagement Models for Clients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2 - 4 WEEKS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1. Rapid Proof-of-Concept (POC)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Low-risk initial engagement to build a working prototype, validate API integrations (e.g. Workday/MCP), and prove feasibility before full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PROJECT-BASED / MILESTONE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2. Full Build &amp; Implementation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277977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</a:defRPr>
            </a:pPr>
            <a:r>
              <a:t>MONTHLY RETAINER</a:t>
            </a:r>
          </a:p>
          <a:p>
            <a:pPr>
              <a:spcAft>
                <a:spcPts val="1200"/>
              </a:spcAft>
              <a:defRPr sz="1700" b="1">
                <a:solidFill>
                  <a:srgbClr val="16161A"/>
                </a:solidFill>
              </a:defRPr>
            </a:pPr>
            <a:r>
              <a:t>3. Strategic Advisory &amp; Architecture</a:t>
            </a:r>
          </a:p>
          <a:p>
            <a:pPr>
              <a:defRPr sz="1300">
                <a:solidFill>
                  <a:srgbClr val="454337"/>
                </a:solidFill>
              </a:defRPr>
            </a:pPr>
            <a:r>
              <a:t>Ongoing technical leadership, architecture reviews, AI readiness roadmap, and engineering team guidance.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to Make the 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2926080"/>
          </a:xfrm>
          <a:prstGeom prst="roundRect">
            <a:avLst/>
          </a:prstGeom>
          <a:solidFill>
            <a:srgbClr val="1A1D27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8001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D99B26"/>
                </a:solidFill>
              </a:defRPr>
            </a:pPr>
            <a:r>
              <a:t>RECOMMENDED EMAIL INTRO TEMPLATE:</a:t>
            </a:r>
          </a:p>
          <a:p>
            <a:pPr>
              <a:spcAft>
                <a:spcPts val="800"/>
              </a:spcAft>
              <a:defRPr sz="1400" i="1">
                <a:solidFill>
                  <a:srgbClr val="FFFFFF"/>
                </a:solidFill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400" i="1">
                <a:solidFill>
                  <a:srgbClr val="FFFFFF"/>
                </a:solidFill>
              </a:defRPr>
            </a:pPr>
            <a:r>
              <a:t>They specialize in bridging custom web interfaces with complex backend systems (like Workday Finance) and building secure, human-in-the-loop AI automations. Given what you mentioned about [pain point], I thought it’d be great for you two to connect.”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400">
                <a:solidFill>
                  <a:srgbClr val="D99B26"/>
                </a:solidFill>
              </a:defRPr>
            </a:pPr>
            <a:r>
              <a:t>Website: technologyconsultants.ventures   ·   Based in San Diego &amp; Tijuana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