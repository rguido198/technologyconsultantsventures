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PARTNER REFERRAL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16161A"/>
                </a:solidFill>
                <a:latin typeface="Helvetica Neue"/>
              </a:defRPr>
            </a:pPr>
            <a:r>
              <a:t>We build technology around your people — not instead of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We build the software that takes work off your team’s plate — from automated web applications to AI agents that answer phones, read paperwork, and run repetitive jobs with a person in the loop wherever money, trust, or judgment is on the 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37560"/>
            <a:ext cx="5157216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38728"/>
            <a:ext cx="4608576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CORE CAPABILITIES</a:t>
            </a:r>
          </a:p>
          <a:p>
            <a:pPr>
              <a:defRPr sz="1250">
                <a:solidFill>
                  <a:srgbClr val="16161A"/>
                </a:solidFill>
                <a:latin typeface="Helvetica Neue"/>
              </a:defRPr>
            </a:pPr>
            <a:r>
              <a:t>Custom React &amp; TypeScript Web Apps  ·  Workday Finance &amp; Adaptive Planning Integrations  ·  Human-in-the-Loop (HITL) AI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3337560"/>
            <a:ext cx="5157216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4536" y="3538728"/>
            <a:ext cx="4608576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D99B26"/>
                </a:solidFill>
                <a:latin typeface="Helvetica Neue"/>
              </a:defRPr>
            </a:pPr>
            <a:r>
              <a:t>PRACTICE LEADERSHIP</a:t>
            </a:r>
          </a:p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Roberto Guido  —  Founder &amp; Principal Engineer</a:t>
            </a:r>
          </a:p>
          <a:p>
            <a:pPr>
              <a:defRPr sz="1150">
                <a:solidFill>
                  <a:srgbClr val="454337"/>
                </a:solidFill>
                <a:latin typeface="Helvetica Neue"/>
              </a:defRPr>
            </a:pPr>
            <a:r>
              <a:t>BS Electrical Engineering (UC San Diego)  ·  MBA (NYU Stern)</a:t>
            </a:r>
            <a:br/>
            <a:r>
              <a:t>Operating in San Diego, CA &amp; Tijuana,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5166360"/>
            <a:ext cx="2514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5257800"/>
            <a:ext cx="218541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SERVICES &amp;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Bridging Engineering Discipline with Business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Custom Interfaces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High-performance React web applications built for human speed and intuitive execution.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Custom React &amp; TypeScript web apps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Responsive, accessible UX design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Direct payment &amp; order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Systems Integration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Deep financial backend integrations, database architecture, and enterprise APIs.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Workday Finance &amp; Adaptive Planning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PostgreSQL database architecture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REST &amp; GraphQL API pipelines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Applied AI &amp; Automation</a:t>
            </a:r>
          </a:p>
          <a:p>
            <a:pPr>
              <a:spcAft>
                <a:spcPts val="16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Custom Model Context Protocol (MCP) servers and human-in-the-loop AI agents.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Custom MCP server deployment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LLM orchestration &amp; document extraction</a:t>
            </a:r>
          </a:p>
          <a:p>
            <a:pPr>
              <a:spcAft>
                <a:spcPts val="800"/>
              </a:spcAft>
              <a:defRPr sz="1150">
                <a:solidFill>
                  <a:srgbClr val="16161A"/>
                </a:solidFill>
                <a:latin typeface="Helvetica Neue"/>
              </a:defRPr>
            </a:pPr>
            <a:r>
              <a:t>•  Human-in-the-loop (HITL) safety gates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TARGET AUDIENCE &amp;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Who Benefits Most From Our Practice?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572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ORGANIZATIONS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Mid-Market Enterprises: </a:t>
            </a:r>
            <a:r>
              <a:rPr b="0">
                <a:solidFill>
                  <a:srgbClr val="454337"/>
                </a:solidFill>
              </a:rPr>
              <a:t>Established operations needing custom tool integration.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Fast-Growing SMBs: </a:t>
            </a:r>
            <a:r>
              <a:rPr b="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Venture-Backed Startups: </a:t>
            </a:r>
            <a:r>
              <a:rPr b="0">
                <a:solidFill>
                  <a:srgbClr val="454337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PE / VC Portcos: </a:t>
            </a:r>
            <a:r>
              <a:rPr b="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216" y="1691640"/>
            <a:ext cx="51572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0256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KEY DECISION MAKERS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CTOs &amp; VPs of Engineering: </a:t>
            </a:r>
            <a:r>
              <a:rPr b="0">
                <a:solidFill>
                  <a:srgbClr val="454337"/>
                </a:solidFill>
              </a:rPr>
              <a:t>Offloading specialized integration &amp; AI agent frontends.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CFOs &amp; Finance Directors: </a:t>
            </a:r>
            <a:r>
              <a:rPr b="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VPs of Operations: </a:t>
            </a:r>
            <a:r>
              <a:rPr b="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2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Founders &amp; Product Leaders: </a:t>
            </a:r>
            <a:r>
              <a:rPr b="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REFERRAL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What Prospects Say Right Before They Need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745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SIGNAL 01  ·  DISCONNECTED BACKENDS &amp; ERPS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SIGNAL 02  ·  AI AMBITIONS VS. ENTERPRISE SECURITY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SIGNAL 03  ·  MANUAL PROCESS BOTTLENECKS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PROVEN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Tested Against Real Operational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ENTERPRISE INTEGRATION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VOICE AI HARDWARE &amp; SOFTWARE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1920240"/>
            <a:ext cx="2688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12064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552" y="5212080"/>
            <a:ext cx="218541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FILTERING BAD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Who is NOT a Fit? (Protects Referral Quality)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57216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LOW-COST TEMPLATE PROJECTS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Looking for offshore body-shopping or commoditized hourly rates.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Basic WordPress brochure sites or generic no-code template setups.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No engineering budget or unwilling to invest in custom architecture.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Unclear business goals without measurable outcome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216" y="1691640"/>
            <a:ext cx="5157216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0256" y="2011680"/>
            <a:ext cx="45171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UN-VETTED "AI HYPE" PROJECTS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Seeking flashy AI wrappers without backend integration or API access.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Unwilling to maintain data hygiene, security controls, or HITL oversight.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Expectations of automated AI magic without structured workflow design.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No internal subject matter expert to validate AI outputs.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ENGAGEMENT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Flexible Engagement Models for Clients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2 - 4 WEEKS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PROJECT-BASED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36992" y="16916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011680"/>
            <a:ext cx="268833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MONTHLY RETAINER</a:t>
            </a:r>
          </a:p>
          <a:p>
            <a:pPr>
              <a:spcAft>
                <a:spcPts val="14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How to Make the 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728655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999713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RECOMMENDED EMAIL INTRO TEMPLATE</a:t>
            </a:r>
          </a:p>
          <a:p>
            <a:pPr>
              <a:spcAft>
                <a:spcPts val="1000"/>
              </a:spcAft>
              <a:defRPr sz="1500">
                <a:solidFill>
                  <a:srgbClr val="16161A"/>
                </a:solidFill>
                <a:latin typeface="Helvetica Neue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500">
                <a:solidFill>
                  <a:srgbClr val="16161A"/>
                </a:solidFill>
                <a:latin typeface="Helvetica Neue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6636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