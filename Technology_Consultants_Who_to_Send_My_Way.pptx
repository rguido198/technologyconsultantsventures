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868680"/>
            <a:ext cx="621792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950" b="1">
                <a:solidFill>
                  <a:srgbClr val="2B59D9"/>
                </a:solidFill>
                <a:latin typeface="Helvetica Neue"/>
              </a:defRPr>
            </a:pPr>
            <a:r>
              <a:t>WEBSITES  ·  AUTOMATION  ·  AI AGENTS    |    ● Booking projects · Q3 2026</a:t>
            </a:r>
          </a:p>
          <a:p>
            <a:pPr>
              <a:spcAft>
                <a:spcPts val="1400"/>
              </a:spcAft>
              <a:defRPr sz="3200" b="1">
                <a:solidFill>
                  <a:srgbClr val="16161A"/>
                </a:solidFill>
                <a:latin typeface="Helvetica Neue"/>
              </a:defRPr>
            </a:pPr>
            <a:r>
              <a:t>We build technology around your people — not instead of them.</a:t>
            </a:r>
          </a:p>
          <a:p>
            <a:pPr>
              <a:spcAft>
                <a:spcPts val="2000"/>
              </a:spcAft>
              <a:defRPr sz="1350">
                <a:solidFill>
                  <a:srgbClr val="454337"/>
                </a:solidFill>
                <a:latin typeface="Helvetica Neue"/>
              </a:defRPr>
            </a:pPr>
            <a:r>
              <a:t>We build software that takes work off your team’s plate — from automated web applications to AI agents that answer phones, read paperwork, and run repetitive jobs with a person in the loop wherever money, trust, or judgment is on the line.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160520"/>
            <a:ext cx="2377440" cy="438912"/>
          </a:xfrm>
          <a:prstGeom prst="roundRect">
            <a:avLst/>
          </a:prstGeom>
          <a:solidFill>
            <a:srgbClr val="161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4251960"/>
            <a:ext cx="23774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1">
                <a:solidFill>
                  <a:srgbClr val="FFFFFF"/>
                </a:solidFill>
                <a:latin typeface="Helvetica Neue"/>
              </a:defRPr>
            </a:pPr>
            <a:r>
              <a:t>Book a 30-min call 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4160520"/>
            <a:ext cx="2286000" cy="438912"/>
          </a:xfrm>
          <a:prstGeom prst="roundRect">
            <a:avLst/>
          </a:prstGeom>
          <a:solidFill>
            <a:srgbClr val="FBFAF5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4251960"/>
            <a:ext cx="2286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50" b="1">
                <a:solidFill>
                  <a:srgbClr val="16161A"/>
                </a:solidFill>
                <a:latin typeface="Helvetica Neue"/>
              </a:defRPr>
            </a:pPr>
            <a:r>
              <a:t>Referral Guide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868680"/>
            <a:ext cx="414497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1051560"/>
            <a:ext cx="3596335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● INVOICE REVIEW</a:t>
            </a:r>
          </a:p>
          <a:p>
            <a:pPr>
              <a:spcAft>
                <a:spcPts val="1000"/>
              </a:spcAft>
              <a:defRPr sz="1500" b="1">
                <a:solidFill>
                  <a:srgbClr val="16161A"/>
                </a:solidFill>
                <a:latin typeface="Helvetica Neue"/>
              </a:defRPr>
            </a:pPr>
            <a:r>
              <a:t>245 cleared automatically</a:t>
            </a:r>
          </a:p>
          <a:p>
            <a:pPr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2 NEED YOU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834640"/>
            <a:ext cx="41449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50">
                <a:solidFill>
                  <a:srgbClr val="736E62"/>
                </a:solidFill>
                <a:latin typeface="Helvetica Neue"/>
              </a:defRPr>
            </a:pPr>
            <a:r>
              <a:t>The agent clears the routine work. Calls and tasks that need judgment stay with a person.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3520440"/>
            <a:ext cx="4144975" cy="1078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657600"/>
            <a:ext cx="368777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1">
                <a:solidFill>
                  <a:srgbClr val="16161A"/>
                </a:solidFill>
                <a:latin typeface="Helvetica Neue"/>
              </a:defRPr>
            </a:pPr>
            <a:r>
              <a:t>Roberto Guido</a:t>
            </a:r>
          </a:p>
          <a:p>
            <a:pPr>
              <a:defRPr sz="1100">
                <a:solidFill>
                  <a:srgbClr val="2B59D9"/>
                </a:solidFill>
                <a:latin typeface="Helvetica Neue"/>
              </a:defRPr>
            </a:pPr>
            <a:r>
              <a:t>Founder &amp; Principal Engineer</a:t>
            </a:r>
          </a:p>
          <a:p>
            <a:pPr>
              <a:spcBef>
                <a:spcPts val="200"/>
              </a:spcBef>
              <a:defRPr sz="1000">
                <a:solidFill>
                  <a:srgbClr val="736E62"/>
                </a:solidFill>
                <a:latin typeface="Helvetica Neue"/>
              </a:defRPr>
            </a:pPr>
            <a:r>
              <a:t>BS Electrical Engineering (UC San Diego) · MBA (NYU Stern)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89204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010912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In production.</a:t>
            </a:r>
          </a:p>
          <a:p>
            <a:pPr>
              <a:defRPr sz="1050">
                <a:solidFill>
                  <a:srgbClr val="454337"/>
                </a:solidFill>
                <a:latin typeface="Helvetica Neue"/>
              </a:defRPr>
            </a:pPr>
            <a:r>
              <a:t>Real users today on our self-developed products.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489204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11880" y="5010912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Senior team.</a:t>
            </a:r>
          </a:p>
          <a:p>
            <a:pPr>
              <a:defRPr sz="1050">
                <a:solidFill>
                  <a:srgbClr val="454337"/>
                </a:solidFill>
                <a:latin typeface="Helvetica Neue"/>
              </a:defRPr>
            </a:pPr>
            <a:r>
              <a:t>The people who pitch your project ship it.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489204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5010912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Code first.</a:t>
            </a:r>
          </a:p>
          <a:p>
            <a:pPr>
              <a:defRPr sz="1050">
                <a:solidFill>
                  <a:srgbClr val="454337"/>
                </a:solidFill>
                <a:latin typeface="Helvetica Neue"/>
              </a:defRPr>
            </a:pPr>
            <a:r>
              <a:t>No decks before working software.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823960" y="4892040"/>
            <a:ext cx="2514600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5010912"/>
            <a:ext cx="214884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One team.</a:t>
            </a:r>
          </a:p>
          <a:p>
            <a:pPr>
              <a:defRPr sz="1050">
                <a:solidFill>
                  <a:srgbClr val="454337"/>
                </a:solidFill>
                <a:latin typeface="Helvetica Neue"/>
              </a:defRPr>
            </a:pPr>
            <a:r>
              <a:t>Interfaces &amp; automations: same engineers.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SERVICES &amp; CAPABILITIES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Bridging Engineering Discipline with Business Outcomes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94559"/>
            <a:ext cx="26883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2B59D9"/>
                </a:solidFill>
                <a:latin typeface="Helvetica Neue"/>
              </a:defRPr>
            </a:pPr>
            <a:r>
              <a:t>01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Custom Interfaces</a:t>
            </a:r>
          </a:p>
          <a:p>
            <a:pPr>
              <a:spcAft>
                <a:spcPts val="1400"/>
              </a:spcAft>
              <a:defRPr sz="1200">
                <a:solidFill>
                  <a:srgbClr val="454337"/>
                </a:solidFill>
                <a:latin typeface="Helvetica Neue"/>
              </a:defRPr>
            </a:pPr>
            <a:r>
              <a:t>High-performance React web applications built for human speed and intuitive execution.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Custom React &amp; TypeScript web apps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Responsive, accessible UX design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Direct payment &amp; order workflows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194559"/>
            <a:ext cx="26883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2B59D9"/>
                </a:solidFill>
                <a:latin typeface="Helvetica Neue"/>
              </a:defRPr>
            </a:pPr>
            <a:r>
              <a:t>02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Systems Integration</a:t>
            </a:r>
          </a:p>
          <a:p>
            <a:pPr>
              <a:spcAft>
                <a:spcPts val="1400"/>
              </a:spcAft>
              <a:defRPr sz="1200">
                <a:solidFill>
                  <a:srgbClr val="454337"/>
                </a:solidFill>
                <a:latin typeface="Helvetica Neue"/>
              </a:defRPr>
            </a:pPr>
            <a:r>
              <a:t>Deep financial backend integrations, database architecture, and enterprise APIs.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Workday Finance &amp; Adaptive Planning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PostgreSQL database architecture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REST &amp; GraphQL API pipelines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194559"/>
            <a:ext cx="26883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2B59D9"/>
                </a:solidFill>
                <a:latin typeface="Helvetica Neue"/>
              </a:defRPr>
            </a:pPr>
            <a:r>
              <a:t>03</a:t>
            </a:r>
          </a:p>
          <a:p>
            <a:pPr>
              <a:spcAft>
                <a:spcPts val="10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Applied AI &amp; Automation</a:t>
            </a:r>
          </a:p>
          <a:p>
            <a:pPr>
              <a:spcAft>
                <a:spcPts val="1400"/>
              </a:spcAft>
              <a:defRPr sz="1200">
                <a:solidFill>
                  <a:srgbClr val="454337"/>
                </a:solidFill>
                <a:latin typeface="Helvetica Neue"/>
              </a:defRPr>
            </a:pPr>
            <a:r>
              <a:t>Custom Model Context Protocol (MCP) servers and human-in-the-loop AI agents.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Custom MCP server deployment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LLM orchestration &amp; document extraction</a:t>
            </a:r>
          </a:p>
          <a:p>
            <a:pPr>
              <a:spcAft>
                <a:spcPts val="600"/>
              </a:spcAft>
              <a:defRPr sz="1100">
                <a:solidFill>
                  <a:srgbClr val="16161A"/>
                </a:solidFill>
                <a:latin typeface="Helvetica Neue"/>
              </a:defRPr>
            </a:pPr>
            <a:r>
              <a:t>•  Human-in-the-loop (HITL) safety gates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02 / 08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TARGET AUDIENCE &amp; ICP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Who Benefits Most From Our Practice?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51572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94559"/>
            <a:ext cx="45171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2B59D9"/>
                </a:solidFill>
                <a:latin typeface="Helvetica Neue"/>
              </a:defRPr>
            </a:pPr>
            <a:r>
              <a:t>TARGET ORGANIZATIONS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Mid-Market Enterprises: </a:t>
            </a:r>
            <a:r>
              <a:rPr b="0">
                <a:solidFill>
                  <a:srgbClr val="454337"/>
                </a:solidFill>
              </a:rPr>
              <a:t>Established operations needing custom tool integration.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Fast-Growing SMBs: </a:t>
            </a:r>
            <a:r>
              <a:rPr b="0">
                <a:solidFill>
                  <a:srgbClr val="454337"/>
                </a:solidFill>
              </a:rPr>
              <a:t>Scaling teams outgrowing spreadsheets or disconnected SaaS apps.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Venture-Backed Startups: </a:t>
            </a:r>
            <a:r>
              <a:rPr b="0">
                <a:solidFill>
                  <a:srgbClr val="454337"/>
                </a:solidFill>
              </a:rPr>
              <a:t>Teams needing high-velocity technical execution &amp; architecture.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PE / VC Portcos: </a:t>
            </a:r>
            <a:r>
              <a:rPr b="0">
                <a:solidFill>
                  <a:srgbClr val="454337"/>
                </a:solidFill>
              </a:rPr>
              <a:t>Portfolio companies streamlining back-office operational efficiency.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874519"/>
            <a:ext cx="51572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0256" y="2194559"/>
            <a:ext cx="45171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KEY DECISION MAKERS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CTOs &amp; VPs of Engineering: </a:t>
            </a:r>
            <a:r>
              <a:rPr b="0">
                <a:solidFill>
                  <a:srgbClr val="454337"/>
                </a:solidFill>
              </a:rPr>
              <a:t>Offloading specialized integration &amp; AI agent frontends.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CFOs &amp; Finance Directors: </a:t>
            </a:r>
            <a:r>
              <a:rPr b="0">
                <a:solidFill>
                  <a:srgbClr val="454337"/>
                </a:solidFill>
              </a:rPr>
              <a:t>Struggling with Workday/ERP data bottlenecks and reporting.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VPs of Operations: </a:t>
            </a:r>
            <a:r>
              <a:rPr b="0">
                <a:solidFill>
                  <a:srgbClr val="454337"/>
                </a:solidFill>
              </a:rPr>
              <a:t>Seeking to eliminate manual document &amp; workflow overhead.</a:t>
            </a:r>
          </a:p>
          <a:p>
            <a:pPr>
              <a:spcAft>
                <a:spcPts val="1000"/>
              </a:spcAft>
              <a:defRPr b="1" sz="1250">
                <a:solidFill>
                  <a:srgbClr val="16161A"/>
                </a:solidFill>
                <a:latin typeface="Helvetica Neue"/>
              </a:defRPr>
            </a:pPr>
            <a:r>
              <a:t>•  Founders &amp; Product Leaders: </a:t>
            </a:r>
            <a:r>
              <a:rPr b="0">
                <a:solidFill>
                  <a:srgbClr val="454337"/>
                </a:solidFill>
              </a:rPr>
              <a:t>Building mission-critical web software under tight deadlines.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03 / 08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REFERRAL SIGNALS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What Prospects Say Right Before They Need 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039111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SIGNAL 01  ·  DISCONNECTED BACKENDS &amp; ERPS</a:t>
            </a:r>
          </a:p>
          <a:p>
            <a:pPr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“Our backend finance systems (Workday/ERP/PostgreSQL) don’t connect cleanly to our front-end interfaces or modern software tools.”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291839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456431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SIGNAL 02  ·  AI AMBITIONS VS. ENTERPRISE SECURITY</a:t>
            </a:r>
          </a:p>
          <a:p>
            <a:pPr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“We want to leverage AI agents, but we need strict data security, enterprise controls, and human-in-the-loop (HITL) oversight.”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709160"/>
            <a:ext cx="10728655" cy="12618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873752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SIGNAL 03  ·  MANUAL PROCESS BOTTLENECKS</a:t>
            </a:r>
          </a:p>
          <a:p>
            <a:pPr>
              <a:defRPr sz="1350">
                <a:solidFill>
                  <a:srgbClr val="16161A"/>
                </a:solidFill>
                <a:latin typeface="Helvetica Neue"/>
              </a:defRPr>
            </a:pPr>
            <a:r>
              <a:t>“Our operations team is bogged down manually processing invoices, reconciling financial records, or running repetitive cross-platform workflows.”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04 / 08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PROVEN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Tested Against Real Operational Systems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3328416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03120"/>
            <a:ext cx="268833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ENTERPRISE INTEGRATION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Workday Finance MCP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Engineered Model Context Protocol (MCP) servers connecting Workday Finance &amp; Adaptive Planning directly to custom AI agent workflows.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874519"/>
            <a:ext cx="3328416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103120"/>
            <a:ext cx="268833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VOICE AI HARDWARE &amp; SOFTWARE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Encounter AI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Designed hardware &amp; software voice AI ordering systems for drive-thrus &amp; kiosks. Backed by Morgan Stanley Inclusive Ventures Lab.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874519"/>
            <a:ext cx="3328416" cy="3154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103120"/>
            <a:ext cx="268833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D99B26"/>
                </a:solidFill>
                <a:latin typeface="Helvetica Neue"/>
              </a:defRPr>
            </a:pPr>
            <a:r>
              <a:t>Appt Helper · Open Cita · Border Bills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In-House Products</a:t>
            </a:r>
          </a:p>
          <a:p>
            <a:pPr>
              <a:defRPr sz="1250">
                <a:solidFill>
                  <a:srgbClr val="454337"/>
                </a:solidFill>
                <a:latin typeface="Helvetica Neue"/>
              </a:defRPr>
            </a:pPr>
            <a:r>
              <a:t>Built and launched our own proprietary software applications to prove technical architecture before selling to clients.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57800"/>
            <a:ext cx="21488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In production.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Real users today on self-developed products.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5257800"/>
            <a:ext cx="21488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Senior team.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The people who pitch your project ship 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5257800"/>
            <a:ext cx="21488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Code first.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No decks before working software.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5166360"/>
            <a:ext cx="251460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006840" y="5257800"/>
            <a:ext cx="214884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16161A"/>
                </a:solidFill>
                <a:latin typeface="Helvetica Neue"/>
              </a:defRPr>
            </a:pPr>
            <a:r>
              <a:t>One team.</a:t>
            </a:r>
          </a:p>
          <a:p>
            <a:pPr>
              <a:spcBef>
                <a:spcPts val="200"/>
              </a:spcBef>
              <a:defRPr sz="1000">
                <a:solidFill>
                  <a:srgbClr val="454337"/>
                </a:solidFill>
                <a:latin typeface="Helvetica Neue"/>
              </a:defRPr>
            </a:pPr>
            <a:r>
              <a:t>Interfaces &amp; automations: same stack.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05 / 08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FILTERING BAD FITS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Who is NOT a Fit? (Protects Referral Quality)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51572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94559"/>
            <a:ext cx="45171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LOW-COST TEMPLATE PROJECTS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Looking for offshore body-shopping or commoditized hourly rates.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Basic WordPress brochure sites or generic no-code template setups.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No engineering budget or unwilling to invest in custom architecture.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Unclear business goals without measurable outcome targets.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0216" y="1874519"/>
            <a:ext cx="5157216" cy="4114800"/>
          </a:xfrm>
          <a:prstGeom prst="roundRect">
            <a:avLst/>
          </a:prstGeom>
          <a:solidFill>
            <a:srgbClr val="FFFFFF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0256" y="2194559"/>
            <a:ext cx="4517136" cy="3566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100" b="1">
                <a:solidFill>
                  <a:srgbClr val="DC2626"/>
                </a:solidFill>
                <a:latin typeface="Helvetica Neue"/>
              </a:defRPr>
            </a:pPr>
            <a:r>
              <a:t>❌  UN-VETTED "AI HYPE" PROJECTS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Seeking flashy AI wrappers without backend integration or API access.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Unwilling to maintain data hygiene, security controls, or HITL oversight.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Expectations of automated AI magic without structured workflow design.</a:t>
            </a:r>
          </a:p>
          <a:p>
            <a:pPr>
              <a:spcAft>
                <a:spcPts val="800"/>
              </a:spcAft>
              <a:defRPr sz="1250">
                <a:solidFill>
                  <a:srgbClr val="454337"/>
                </a:solidFill>
                <a:latin typeface="Helvetica Neue"/>
              </a:defRPr>
            </a:pPr>
            <a:r>
              <a:t>✕  No internal subject matter expert to validate AI outputs.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06 / 08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ENGAGEMENT MODELS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Flexible Engagement Models for Clients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94560"/>
            <a:ext cx="2688336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2 - 4 WEEKS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1. Proof-of-Concept Sprint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Low-risk initial engagement to build a working prototype, validate API integrations (e.g. Workday/MCP), and prove feasibility.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4296" y="2194560"/>
            <a:ext cx="2688336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PROJECT-BASED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2. Full Implementation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End-to-end custom React web software, backend integration pipeline, automated AI workflow, and production deployment.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36992" y="1874519"/>
            <a:ext cx="3328416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194560"/>
            <a:ext cx="2688336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MONTHLY RETAINER</a:t>
            </a:r>
          </a:p>
          <a:p>
            <a:pPr>
              <a:spcAft>
                <a:spcPts val="1200"/>
              </a:spcAft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3. Strategic Advisory</a:t>
            </a:r>
          </a:p>
          <a:p>
            <a:pPr>
              <a:defRPr sz="1300">
                <a:solidFill>
                  <a:srgbClr val="454337"/>
                </a:solidFill>
                <a:latin typeface="Helvetica Neue"/>
              </a:defRPr>
            </a:pPr>
            <a:r>
              <a:t>Ongoing technical leadership, architecture reviews, AI readiness roadmap, and engineering team guidance.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07 / 08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94360"/>
          </a:xfrm>
          <a:prstGeom prst="rect">
            <a:avLst/>
          </a:prstGeom>
          <a:solidFill>
            <a:srgbClr val="121216"/>
          </a:solidFill>
          <a:ln w="12700">
            <a:solidFill>
              <a:srgbClr val="2626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46304"/>
            <a:ext cx="301752" cy="301752"/>
          </a:xfrm>
          <a:prstGeom prst="roundRect">
            <a:avLst/>
          </a:prstGeom>
          <a:solidFill>
            <a:srgbClr val="2B59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"/>
            <a:ext cx="301752" cy="3017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Helvetica Neue"/>
              </a:defRPr>
            </a:pPr>
            <a:r>
              <a:t>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64592"/>
            <a:ext cx="32004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Helvetica Neue"/>
              </a:defRPr>
            </a:pPr>
            <a:r>
              <a:t>Technology Consultants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82880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BEC3CD"/>
                </a:solidFill>
                <a:latin typeface="Helvetica Neue"/>
              </a:defRPr>
            </a:pPr>
            <a:r>
              <a:t>Services   ·   Work   ·   How we work   ·   About   ·   FAQ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966960" y="128016"/>
            <a:ext cx="1463040" cy="329184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0" y="1645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000" b="1">
                <a:solidFill>
                  <a:srgbClr val="16161A"/>
                </a:solidFill>
                <a:latin typeface="Helvetica Neue"/>
              </a:defRPr>
            </a:pPr>
            <a:r>
              <a:t>Book a call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777240"/>
            <a:ext cx="10728655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1">
                <a:solidFill>
                  <a:srgbClr val="2B59D9"/>
                </a:solidFill>
                <a:latin typeface="Helvetica Neue"/>
              </a:defRPr>
            </a:pPr>
            <a:r>
              <a:t>NEXT STEPS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024128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6161A"/>
                </a:solidFill>
                <a:latin typeface="Helvetica Neue"/>
              </a:defRPr>
            </a:pPr>
            <a:r>
              <a:t>How to Make the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1874519"/>
            <a:ext cx="10728655" cy="3017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DD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03120"/>
            <a:ext cx="1005840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100" b="1">
                <a:solidFill>
                  <a:srgbClr val="D99B26"/>
                </a:solidFill>
                <a:latin typeface="Helvetica Neue"/>
              </a:defRPr>
            </a:pPr>
            <a:r>
              <a:t>RECOMMENDED EMAIL INTRO TEMPLATE:</a:t>
            </a:r>
          </a:p>
          <a:p>
            <a:pPr>
              <a:spcAft>
                <a:spcPts val="800"/>
              </a:spcAft>
              <a:defRPr sz="1450">
                <a:solidFill>
                  <a:srgbClr val="16161A"/>
                </a:solidFill>
                <a:latin typeface="Helvetica Neue"/>
              </a:defRPr>
            </a:pPr>
            <a:r>
              <a:t>“Hi [Name] — I’d like to introduce you to Roberto Guido, Founder &amp; Principal Engineer at Technology Consultants.</a:t>
            </a:r>
          </a:p>
          <a:p>
            <a:pPr>
              <a:defRPr sz="1450">
                <a:solidFill>
                  <a:srgbClr val="16161A"/>
                </a:solidFill>
                <a:latin typeface="Helvetica Neue"/>
              </a:defRPr>
            </a:pPr>
            <a:r>
              <a:t>They build software around your people — bridging custom web interfaces with complex backend systems (like Workday Finance) and secure, human-in-the-loop AI automations. Given what you mentioned about [pain point], I thought it’d be great for you two to connect.”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29200"/>
            <a:ext cx="10728655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6161A"/>
                </a:solidFill>
                <a:latin typeface="Helvetica Neue"/>
              </a:defRPr>
            </a:pPr>
            <a:r>
              <a:t>Roberto Guido  |  Technology Consultants</a:t>
            </a:r>
          </a:p>
          <a:p>
            <a:pPr>
              <a:spcBef>
                <a:spcPts val="400"/>
              </a:spcBef>
              <a:defRPr sz="1300">
                <a:solidFill>
                  <a:srgbClr val="2B59D9"/>
                </a:solidFill>
                <a:latin typeface="Helvetica Neue"/>
              </a:defRPr>
            </a:pPr>
            <a:r>
              <a:t>Website: technologyconsultants.ventures   ·   San Diego &amp; Tijuana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6327648"/>
            <a:ext cx="10728655" cy="12700"/>
          </a:xfrm>
          <a:prstGeom prst="rect">
            <a:avLst/>
          </a:prstGeom>
          <a:solidFill>
            <a:srgbClr val="E2DD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640080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>
                <a:solidFill>
                  <a:srgbClr val="736E62"/>
                </a:solidFill>
                <a:latin typeface="Helvetica Neue"/>
              </a:defRPr>
            </a:pPr>
            <a:r>
              <a:t>technologyconsultants.ventures  ·  San Diego · Tijuana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31375" y="6400800"/>
            <a:ext cx="1828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>
                <a:solidFill>
                  <a:srgbClr val="736E62"/>
                </a:solidFill>
                <a:latin typeface="Helvetica Neue"/>
              </a:defRPr>
            </a:pPr>
            <a:r>
              <a:t>08 / 08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