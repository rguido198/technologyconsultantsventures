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530352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04088"/>
            <a:ext cx="5120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WEBSITES  ·  AUTOMATION  · 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D99B26"/>
                </a:solidFill>
                <a:latin typeface="Helvetica"/>
              </a:defRPr>
            </a:pPr>
            <a:r>
              <a:t>Technology Consultants</a:t>
            </a:r>
          </a:p>
          <a:p>
            <a:pPr>
              <a:spcAft>
                <a:spcPts val="1400"/>
              </a:spcAft>
              <a:defRPr sz="4400" b="1">
                <a:solidFill>
                  <a:srgbClr val="16161A"/>
                </a:solidFill>
                <a:latin typeface="Helvetica"/>
              </a:defRPr>
            </a:pPr>
            <a:r>
              <a:t>Who to Send My Way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926080"/>
            <a:ext cx="10545775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063240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6161A"/>
                </a:solidFill>
                <a:latin typeface="Helvetica"/>
              </a:defRPr>
            </a:pPr>
            <a:r>
              <a:t>“We build technology around your people — not </a:t>
            </a:r>
            <a:r>
              <a:rPr i="1" b="1"/>
              <a:t>instead</a:t>
            </a:r>
            <a:r>
              <a:t> of them.”</a:t>
            </a:r>
          </a:p>
          <a:p>
            <a:pPr>
              <a:spcBef>
                <a:spcPts val="600"/>
              </a:spcBef>
              <a:defRPr sz="1400">
                <a:solidFill>
                  <a:srgbClr val="59564D"/>
                </a:solidFill>
                <a:latin typeface="Helvetica"/>
              </a:defRPr>
            </a:pPr>
            <a:r>
              <a:t>Real working software with a person in the loop wherever money, trust, or judgment is on the 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89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PRACTICE LEAD</a:t>
            </a:r>
          </a:p>
          <a:p>
            <a:pPr>
              <a:defRPr sz="2000" b="1">
                <a:solidFill>
                  <a:srgbClr val="16161A"/>
                </a:solidFill>
                <a:latin typeface="Helvetica"/>
              </a:defRPr>
            </a:pPr>
            <a:r>
              <a:t>Roberto Guido</a:t>
            </a:r>
          </a:p>
          <a:p>
            <a:pPr>
              <a:spcBef>
                <a:spcPts val="200"/>
              </a:spcBef>
              <a:defRPr sz="1400">
                <a:solidFill>
                  <a:srgbClr val="59564D"/>
                </a:solidFill>
                <a:latin typeface="Helvetica"/>
              </a:defRPr>
            </a:pPr>
            <a:r>
              <a:t>Founder &amp; Principal Engineer  ·  BS Electrical Engineering (UC San Diego) · MBA (NYU Stern)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B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82512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C786C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9935" y="6382512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C786C"/>
                </a:solidFill>
                <a:latin typeface="Courier New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CORE PRACTICE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"/>
              </a:defRPr>
            </a:pPr>
            <a:r>
              <a:t>Bridging Engineering Discipline with Business Outcomes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332841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240279"/>
            <a:ext cx="268833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2B59D9"/>
                </a:solidFill>
                <a:latin typeface="Courier New"/>
              </a:defRPr>
            </a:pPr>
            <a:r>
              <a:t>01</a:t>
            </a:r>
          </a:p>
          <a:p>
            <a:pPr>
              <a:spcAft>
                <a:spcPts val="1400"/>
              </a:spcAft>
              <a:defRPr sz="2000" b="1">
                <a:solidFill>
                  <a:srgbClr val="16161A"/>
                </a:solidFill>
                <a:latin typeface="Helvetica"/>
              </a:defRPr>
            </a:pPr>
            <a:r>
              <a:t>Custom Interfaces</a:t>
            </a:r>
          </a:p>
          <a:p>
            <a:pPr>
              <a:defRPr sz="1400">
                <a:solidFill>
                  <a:srgbClr val="59564D"/>
                </a:solidFill>
                <a:latin typeface="Helvetica"/>
              </a:defRPr>
            </a:pPr>
            <a:r>
              <a:t>Custom interfaces built for human speed and intuitive execution. High-performance React web applications tailored to daily workflow needs.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874519"/>
            <a:ext cx="332841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45736" y="2240279"/>
            <a:ext cx="268833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2B59D9"/>
                </a:solidFill>
                <a:latin typeface="Courier New"/>
              </a:defRPr>
            </a:pPr>
            <a:r>
              <a:t>02</a:t>
            </a:r>
          </a:p>
          <a:p>
            <a:pPr>
              <a:spcAft>
                <a:spcPts val="1400"/>
              </a:spcAft>
              <a:defRPr sz="2000" b="1">
                <a:solidFill>
                  <a:srgbClr val="16161A"/>
                </a:solidFill>
                <a:latin typeface="Helvetica"/>
              </a:defRPr>
            </a:pPr>
            <a:r>
              <a:t>Systems Integration</a:t>
            </a:r>
          </a:p>
          <a:p>
            <a:pPr>
              <a:defRPr sz="1400">
                <a:solidFill>
                  <a:srgbClr val="59564D"/>
                </a:solidFill>
                <a:latin typeface="Helvetica"/>
              </a:defRPr>
            </a:pPr>
            <a:r>
              <a:t>Deep financial backend integrations (Workday Finance &amp; Adaptive Planning), PostgreSQL databases, and enterprise REST APIs.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1874519"/>
            <a:ext cx="332841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8471" y="2240279"/>
            <a:ext cx="268833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2B59D9"/>
                </a:solidFill>
                <a:latin typeface="Courier New"/>
              </a:defRPr>
            </a:pPr>
            <a:r>
              <a:t>03</a:t>
            </a:r>
          </a:p>
          <a:p>
            <a:pPr>
              <a:spcAft>
                <a:spcPts val="1400"/>
              </a:spcAft>
              <a:defRPr sz="2000" b="1">
                <a:solidFill>
                  <a:srgbClr val="16161A"/>
                </a:solidFill>
                <a:latin typeface="Helvetica"/>
              </a:defRPr>
            </a:pPr>
            <a:r>
              <a:t>Applied AI &amp; Automation</a:t>
            </a:r>
          </a:p>
          <a:p>
            <a:pPr>
              <a:defRPr sz="1400">
                <a:solidFill>
                  <a:srgbClr val="59564D"/>
                </a:solidFill>
                <a:latin typeface="Helvetica"/>
              </a:defRPr>
            </a:pPr>
            <a:r>
              <a:t>Custom Model Context Protocol (MCP) servers, LLM orchestration, and human-in-the-loop (HITL) AI agents for real operational trust.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B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82512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C786C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9935" y="6382512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C786C"/>
                </a:solidFill>
                <a:latin typeface="Courier New"/>
              </a:defRPr>
            </a:pPr>
            <a: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TARGET AUDIENCE &amp; ICP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"/>
              </a:defRPr>
            </a:pPr>
            <a:r>
              <a:t>Who Benefits Most From Our Practice?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512064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59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2B59D9"/>
                </a:solidFill>
                <a:latin typeface="Courier New"/>
              </a:defRPr>
            </a:pPr>
            <a:r>
              <a:t>TARGET ORGANIZATIONS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"/>
              </a:defRPr>
            </a:pPr>
            <a:r>
              <a:t>• Mid-Market Enterprises: </a:t>
            </a:r>
            <a:r>
              <a:rPr b="0">
                <a:solidFill>
                  <a:srgbClr val="59564D"/>
                </a:solidFill>
              </a:rPr>
              <a:t>Established operations needing custom tool integration.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"/>
              </a:defRPr>
            </a:pPr>
            <a:r>
              <a:t>• Fast-Growing SMBs: </a:t>
            </a:r>
            <a:r>
              <a:rPr b="0">
                <a:solidFill>
                  <a:srgbClr val="59564D"/>
                </a:solidFill>
              </a:rPr>
              <a:t>Scaling teams outgrowing spreadsheets or disconnected SaaS apps.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"/>
              </a:defRPr>
            </a:pPr>
            <a:r>
              <a:t>• Venture-Backed Startups: </a:t>
            </a:r>
            <a:r>
              <a:rPr b="0">
                <a:solidFill>
                  <a:srgbClr val="59564D"/>
                </a:solidFill>
              </a:rPr>
              <a:t>Teams needing high-velocity technical execution &amp; architecture.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"/>
              </a:defRPr>
            </a:pPr>
            <a:r>
              <a:t>• PE / VC Portcos: </a:t>
            </a:r>
            <a:r>
              <a:rPr b="0">
                <a:solidFill>
                  <a:srgbClr val="59564D"/>
                </a:solidFill>
              </a:rPr>
              <a:t>Portfolio companies streamlining back-office operational efficiency.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1874519"/>
            <a:ext cx="512064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59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KEY DECISION MAKERS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"/>
              </a:defRPr>
            </a:pPr>
            <a:r>
              <a:t>• CTOs &amp; VPs of Engineering: </a:t>
            </a:r>
            <a:r>
              <a:rPr b="0">
                <a:solidFill>
                  <a:srgbClr val="59564D"/>
                </a:solidFill>
              </a:rPr>
              <a:t>Offloading specialized integration &amp; AI agent frontends.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"/>
              </a:defRPr>
            </a:pPr>
            <a:r>
              <a:t>• CFOs &amp; Finance Directors: </a:t>
            </a:r>
            <a:r>
              <a:rPr b="0">
                <a:solidFill>
                  <a:srgbClr val="59564D"/>
                </a:solidFill>
              </a:rPr>
              <a:t>Struggling with Workday/ERP data bottlenecks and reporting.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"/>
              </a:defRPr>
            </a:pPr>
            <a:r>
              <a:t>• VPs of Operations: </a:t>
            </a:r>
            <a:r>
              <a:rPr b="0">
                <a:solidFill>
                  <a:srgbClr val="59564D"/>
                </a:solidFill>
              </a:rPr>
              <a:t>Seeking to eliminate manual document &amp; workflow overhead.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"/>
              </a:defRPr>
            </a:pPr>
            <a:r>
              <a:t>• Founders &amp; Product Leaders: </a:t>
            </a:r>
            <a:r>
              <a:rPr b="0">
                <a:solidFill>
                  <a:srgbClr val="59564D"/>
                </a:solidFill>
              </a:rPr>
              <a:t>Building mission-critical web software under tight deadlines.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B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82512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C786C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9935" y="6382512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C786C"/>
                </a:solidFill>
                <a:latin typeface="Courier New"/>
              </a:defRPr>
            </a:pPr>
            <a: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REFERRAL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"/>
              </a:defRPr>
            </a:pPr>
            <a:r>
              <a:t>What Prospects Say Right Before They Need 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1054577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79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01 / DISCONNECTED BACKENDS &amp; ERPS</a:t>
            </a:r>
          </a:p>
          <a:p>
            <a:pPr>
              <a:defRPr sz="1400" i="1">
                <a:solidFill>
                  <a:srgbClr val="16161A"/>
                </a:solidFill>
                <a:latin typeface="Helvetica"/>
              </a:defRPr>
            </a:pPr>
            <a:r>
              <a:t>“Our backend finance systems (Workday/ERP/PostgreSQL) don’t connect cleanly to our front-end interfaces or modern software tools.”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91839"/>
            <a:ext cx="1054577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428999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02 / AI AMBITIONS VS. ENTERPRISE SECURITY</a:t>
            </a:r>
          </a:p>
          <a:p>
            <a:pPr>
              <a:defRPr sz="1400" i="1">
                <a:solidFill>
                  <a:srgbClr val="16161A"/>
                </a:solidFill>
                <a:latin typeface="Helvetica"/>
              </a:defRPr>
            </a:pPr>
            <a:r>
              <a:t>“We want to leverage AI agents, but we need strict data security, enterprise controls, and human-in-the-loop (HITL) oversight.”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709160"/>
            <a:ext cx="1054577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846320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03 / MANUAL PROCESS BOTTLENECKS</a:t>
            </a:r>
          </a:p>
          <a:p>
            <a:pPr>
              <a:defRPr sz="1400" i="1">
                <a:solidFill>
                  <a:srgbClr val="16161A"/>
                </a:solidFill>
                <a:latin typeface="Helvetica"/>
              </a:defRPr>
            </a:pPr>
            <a:r>
              <a:t>“Our operations team is bogged down manually processing invoices, reconciling financial records, or running repetitive cross-platform workflows.”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B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82512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C786C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9935" y="6382512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C786C"/>
                </a:solidFill>
                <a:latin typeface="Courier New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PROVEN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"/>
              </a:defRPr>
            </a:pPr>
            <a:r>
              <a:t>Tested Against Real Operational Systems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3328416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103120"/>
            <a:ext cx="268833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Courier New"/>
              </a:defRPr>
            </a:pPr>
            <a:r>
              <a:t>ENTERPRISE INTEGRATION</a:t>
            </a:r>
          </a:p>
          <a:p>
            <a:pPr>
              <a:spcAft>
                <a:spcPts val="1200"/>
              </a:spcAft>
              <a:defRPr sz="1900" b="1">
                <a:solidFill>
                  <a:srgbClr val="16161A"/>
                </a:solidFill>
                <a:latin typeface="Helvetica"/>
              </a:defRPr>
            </a:pPr>
            <a:r>
              <a:t>Workday Finance MCP</a:t>
            </a:r>
          </a:p>
          <a:p>
            <a:pPr>
              <a:defRPr sz="1300">
                <a:solidFill>
                  <a:srgbClr val="59564D"/>
                </a:solidFill>
                <a:latin typeface="Helvetica"/>
              </a:defRPr>
            </a:pPr>
            <a:r>
              <a:t>Engineered Model Context Protocol (MCP) servers connecting Workday Finance &amp; Adaptive Planning directly to custom AI agent workflows.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874519"/>
            <a:ext cx="3328416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45736" y="2103120"/>
            <a:ext cx="268833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Courier New"/>
              </a:defRPr>
            </a:pPr>
            <a:r>
              <a:t>VOICE AI HARDWARE &amp; SOFTWARE</a:t>
            </a:r>
          </a:p>
          <a:p>
            <a:pPr>
              <a:spcAft>
                <a:spcPts val="1200"/>
              </a:spcAft>
              <a:defRPr sz="1900" b="1">
                <a:solidFill>
                  <a:srgbClr val="16161A"/>
                </a:solidFill>
                <a:latin typeface="Helvetica"/>
              </a:defRPr>
            </a:pPr>
            <a:r>
              <a:t>Encounter AI</a:t>
            </a:r>
          </a:p>
          <a:p>
            <a:pPr>
              <a:defRPr sz="1300">
                <a:solidFill>
                  <a:srgbClr val="59564D"/>
                </a:solidFill>
                <a:latin typeface="Helvetica"/>
              </a:defRPr>
            </a:pPr>
            <a:r>
              <a:t>Designed hardware &amp; software voice AI ordering systems for drive-thrus &amp; kiosks. Backed by Morgan Stanley Inclusive Ventures Lab.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1874519"/>
            <a:ext cx="3328416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8471" y="2103120"/>
            <a:ext cx="268833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Courier New"/>
              </a:defRPr>
            </a:pPr>
            <a:r>
              <a:t>Appt Helper · Open Cita · Border Bills</a:t>
            </a:r>
          </a:p>
          <a:p>
            <a:pPr>
              <a:spcAft>
                <a:spcPts val="1200"/>
              </a:spcAft>
              <a:defRPr sz="1900" b="1">
                <a:solidFill>
                  <a:srgbClr val="16161A"/>
                </a:solidFill>
                <a:latin typeface="Helvetica"/>
              </a:defRPr>
            </a:pPr>
            <a:r>
              <a:t>In-House Products</a:t>
            </a:r>
          </a:p>
          <a:p>
            <a:pPr>
              <a:defRPr sz="1300">
                <a:solidFill>
                  <a:srgbClr val="59564D"/>
                </a:solidFill>
                <a:latin typeface="Helvetica"/>
              </a:defRPr>
            </a:pPr>
            <a:r>
              <a:t>Built and launched our own proprietary software applications to prove technical architecture before selling to clients.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212080"/>
            <a:ext cx="24688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25780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 i="1">
                <a:solidFill>
                  <a:srgbClr val="16161A"/>
                </a:solidFill>
                <a:latin typeface="Helvetica"/>
              </a:defRPr>
            </a:pPr>
            <a:r>
              <a:t>In production.</a:t>
            </a:r>
          </a:p>
          <a:p>
            <a:pPr>
              <a:spcBef>
                <a:spcPts val="200"/>
              </a:spcBef>
              <a:defRPr sz="1000">
                <a:solidFill>
                  <a:srgbClr val="59564D"/>
                </a:solidFill>
                <a:latin typeface="Helvetica"/>
              </a:defRPr>
            </a:pPr>
            <a:r>
              <a:t>Real users today on self-developed products.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5212080"/>
            <a:ext cx="24688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525780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 i="1">
                <a:solidFill>
                  <a:srgbClr val="16161A"/>
                </a:solidFill>
                <a:latin typeface="Helvetica"/>
              </a:defRPr>
            </a:pPr>
            <a:r>
              <a:t>Senior team.</a:t>
            </a:r>
          </a:p>
          <a:p>
            <a:pPr>
              <a:spcBef>
                <a:spcPts val="200"/>
              </a:spcBef>
              <a:defRPr sz="1000">
                <a:solidFill>
                  <a:srgbClr val="59564D"/>
                </a:solidFill>
                <a:latin typeface="Helvetica"/>
              </a:defRPr>
            </a:pPr>
            <a:r>
              <a:t>The people who pitch your project ship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5212080"/>
            <a:ext cx="24688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525780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 i="1">
                <a:solidFill>
                  <a:srgbClr val="16161A"/>
                </a:solidFill>
                <a:latin typeface="Helvetica"/>
              </a:defRPr>
            </a:pPr>
            <a:r>
              <a:t>Code first.</a:t>
            </a:r>
          </a:p>
          <a:p>
            <a:pPr>
              <a:spcBef>
                <a:spcPts val="200"/>
              </a:spcBef>
              <a:defRPr sz="1000">
                <a:solidFill>
                  <a:srgbClr val="59564D"/>
                </a:solidFill>
                <a:latin typeface="Helvetica"/>
              </a:defRPr>
            </a:pPr>
            <a:r>
              <a:t>No decks before working software.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5212080"/>
            <a:ext cx="24688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525780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 i="1">
                <a:solidFill>
                  <a:srgbClr val="16161A"/>
                </a:solidFill>
                <a:latin typeface="Helvetica"/>
              </a:defRPr>
            </a:pPr>
            <a:r>
              <a:t>One team.</a:t>
            </a:r>
          </a:p>
          <a:p>
            <a:pPr>
              <a:spcBef>
                <a:spcPts val="200"/>
              </a:spcBef>
              <a:defRPr sz="1000">
                <a:solidFill>
                  <a:srgbClr val="59564D"/>
                </a:solidFill>
                <a:latin typeface="Helvetica"/>
              </a:defRPr>
            </a:pPr>
            <a:r>
              <a:t>Interfaces &amp; automations: same stack.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B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82512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C786C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9935" y="6382512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C786C"/>
                </a:solidFill>
                <a:latin typeface="Courier New"/>
              </a:defRPr>
            </a:pPr>
            <a: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FILTERING BAD 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"/>
              </a:defRPr>
            </a:pPr>
            <a:r>
              <a:t>Who is NOT a Fit? (Protects Referral Quality)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5157216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59"/>
            <a:ext cx="46085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C2626"/>
                </a:solidFill>
                <a:latin typeface="Courier New"/>
              </a:defRPr>
            </a:pPr>
            <a:r>
              <a:t>❌  LOW-COST TEMPLATE PROJECTS</a:t>
            </a:r>
          </a:p>
          <a:p>
            <a:pPr>
              <a:spcAft>
                <a:spcPts val="800"/>
              </a:spcAft>
              <a:defRPr sz="1300">
                <a:solidFill>
                  <a:srgbClr val="59564D"/>
                </a:solidFill>
                <a:latin typeface="Helvetica"/>
              </a:defRPr>
            </a:pPr>
            <a:r>
              <a:t>✕ Looking for offshore body-shopping or commoditized hourly rates.</a:t>
            </a:r>
          </a:p>
          <a:p>
            <a:pPr>
              <a:spcAft>
                <a:spcPts val="800"/>
              </a:spcAft>
              <a:defRPr sz="1300">
                <a:solidFill>
                  <a:srgbClr val="59564D"/>
                </a:solidFill>
                <a:latin typeface="Helvetica"/>
              </a:defRPr>
            </a:pPr>
            <a:r>
              <a:t>✕ Basic WordPress brochure sites or generic no-code template setups.</a:t>
            </a:r>
          </a:p>
          <a:p>
            <a:pPr>
              <a:spcAft>
                <a:spcPts val="800"/>
              </a:spcAft>
              <a:defRPr sz="1300">
                <a:solidFill>
                  <a:srgbClr val="59564D"/>
                </a:solidFill>
                <a:latin typeface="Helvetica"/>
              </a:defRPr>
            </a:pPr>
            <a:r>
              <a:t>✕ No engineering budget or unwilling to invest in custom architecture.</a:t>
            </a:r>
          </a:p>
          <a:p>
            <a:pPr>
              <a:spcAft>
                <a:spcPts val="800"/>
              </a:spcAft>
              <a:defRPr sz="1300">
                <a:solidFill>
                  <a:srgbClr val="59564D"/>
                </a:solidFill>
                <a:latin typeface="Helvetica"/>
              </a:defRPr>
            </a:pPr>
            <a:r>
              <a:t>✕ Unclear business goals without measurable outcome targets.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1874519"/>
            <a:ext cx="5157216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59"/>
            <a:ext cx="46085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C2626"/>
                </a:solidFill>
                <a:latin typeface="Courier New"/>
              </a:defRPr>
            </a:pPr>
            <a:r>
              <a:t>❌  UN-VETTED "AI HYPE" PROJECTS</a:t>
            </a:r>
          </a:p>
          <a:p>
            <a:pPr>
              <a:spcAft>
                <a:spcPts val="800"/>
              </a:spcAft>
              <a:defRPr sz="1300">
                <a:solidFill>
                  <a:srgbClr val="59564D"/>
                </a:solidFill>
                <a:latin typeface="Helvetica"/>
              </a:defRPr>
            </a:pPr>
            <a:r>
              <a:t>✕ Seeking flashy AI wrappers without backend integration or API access.</a:t>
            </a:r>
          </a:p>
          <a:p>
            <a:pPr>
              <a:spcAft>
                <a:spcPts val="800"/>
              </a:spcAft>
              <a:defRPr sz="1300">
                <a:solidFill>
                  <a:srgbClr val="59564D"/>
                </a:solidFill>
                <a:latin typeface="Helvetica"/>
              </a:defRPr>
            </a:pPr>
            <a:r>
              <a:t>✕ Unwilling to maintain data hygiene, security controls, or HITL oversight.</a:t>
            </a:r>
          </a:p>
          <a:p>
            <a:pPr>
              <a:spcAft>
                <a:spcPts val="800"/>
              </a:spcAft>
              <a:defRPr sz="1300">
                <a:solidFill>
                  <a:srgbClr val="59564D"/>
                </a:solidFill>
                <a:latin typeface="Helvetica"/>
              </a:defRPr>
            </a:pPr>
            <a:r>
              <a:t>✕ Expectations of automated AI magic without structured workflow design.</a:t>
            </a:r>
          </a:p>
          <a:p>
            <a:pPr>
              <a:spcAft>
                <a:spcPts val="800"/>
              </a:spcAft>
              <a:defRPr sz="1300">
                <a:solidFill>
                  <a:srgbClr val="59564D"/>
                </a:solidFill>
                <a:latin typeface="Helvetica"/>
              </a:defRPr>
            </a:pPr>
            <a:r>
              <a:t>✕ No internal subject matter expert to validate AI outputs.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B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82512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C786C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9935" y="6382512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C786C"/>
                </a:solidFill>
                <a:latin typeface="Courier New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ENGAGEMENT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"/>
              </a:defRPr>
            </a:pPr>
            <a:r>
              <a:t>Flexible Engagement Models for Clients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332841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194560"/>
            <a:ext cx="268833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[ 2 - 4 WEEKS ]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1. Proof-of-Concept Sprint</a:t>
            </a:r>
          </a:p>
          <a:p>
            <a:pPr>
              <a:defRPr sz="1300">
                <a:solidFill>
                  <a:srgbClr val="59564D"/>
                </a:solidFill>
                <a:latin typeface="Helvetica"/>
              </a:defRPr>
            </a:pPr>
            <a:r>
              <a:t>Low-risk initial engagement to build a working prototype, validate API integrations (e.g. Workday/MCP), and prove feasibility.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874519"/>
            <a:ext cx="332841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45736" y="2194560"/>
            <a:ext cx="268833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[ PROJECT-BASED ]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2. Full Implementation</a:t>
            </a:r>
          </a:p>
          <a:p>
            <a:pPr>
              <a:defRPr sz="1300">
                <a:solidFill>
                  <a:srgbClr val="59564D"/>
                </a:solidFill>
                <a:latin typeface="Helvetica"/>
              </a:defRPr>
            </a:pPr>
            <a:r>
              <a:t>End-to-end custom React web software, backend integration pipeline, automated AI workflow, and production deployment.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1874519"/>
            <a:ext cx="332841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8471" y="2194560"/>
            <a:ext cx="268833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[ MONTHLY RETAINER ]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3. Strategic Advisory</a:t>
            </a:r>
          </a:p>
          <a:p>
            <a:pPr>
              <a:defRPr sz="1300">
                <a:solidFill>
                  <a:srgbClr val="59564D"/>
                </a:solidFill>
                <a:latin typeface="Helvetica"/>
              </a:defRPr>
            </a:pPr>
            <a:r>
              <a:t>Ongoing technical leadership, architecture reviews, AI readiness roadmap, and engineering team guidance.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B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82512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C786C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9935" y="6382512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C786C"/>
                </a:solidFill>
                <a:latin typeface="Courier New"/>
              </a:defRPr>
            </a:pPr>
            <a: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"/>
              </a:defRPr>
            </a:pPr>
            <a:r>
              <a:t>How to Make the Introduction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10545775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57400"/>
            <a:ext cx="9966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RECOMMENDED EMAIL INTRO TEMPLATE:</a:t>
            </a:r>
          </a:p>
          <a:p>
            <a:pPr>
              <a:spcAft>
                <a:spcPts val="800"/>
              </a:spcAft>
              <a:defRPr sz="1500" i="1">
                <a:solidFill>
                  <a:srgbClr val="16161A"/>
                </a:solidFill>
                <a:latin typeface="Helvetica"/>
              </a:defRPr>
            </a:pPr>
            <a:r>
              <a:t>“Hi [Name] — I’d like to introduce you to Roberto Guido, Founder &amp; Principal Engineer at Technology Consultants.</a:t>
            </a:r>
          </a:p>
          <a:p>
            <a:pPr>
              <a:defRPr sz="1500" i="1">
                <a:solidFill>
                  <a:srgbClr val="16161A"/>
                </a:solidFill>
                <a:latin typeface="Helvetica"/>
              </a:defRPr>
            </a:pPr>
            <a:r>
              <a:t>They build software around your people — bridging custom web interfaces with complex backend systems (like Workday Finance) and secure, human-in-the-loop AI automations. Given what you mentioned about [pain point], I thought it’d be great for you two to connect.”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545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Roberto Guido  |  Technology Consultants</a:t>
            </a:r>
          </a:p>
          <a:p>
            <a:pPr>
              <a:spcBef>
                <a:spcPts val="400"/>
              </a:spcBef>
              <a:defRPr sz="1300">
                <a:solidFill>
                  <a:srgbClr val="2B59D9"/>
                </a:solidFill>
                <a:latin typeface="Courier New"/>
              </a:defRPr>
            </a:pPr>
            <a:r>
              <a:t>Website: technologyconsultants.ventures   ·   San Diego &amp; Tijuana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B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82512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C786C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39935" y="6382512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C786C"/>
                </a:solidFill>
                <a:latin typeface="Courier New"/>
              </a:defRPr>
            </a:pPr>
            <a: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