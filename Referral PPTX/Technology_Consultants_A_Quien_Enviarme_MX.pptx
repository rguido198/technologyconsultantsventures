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TECHNOLOGY CONSULTANTS  ·  RESUMEN DE PRÁCTICA Y GUÍA DE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10728655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800" b="1">
                <a:solidFill>
                  <a:srgbClr val="16161A"/>
                </a:solidFill>
                <a:latin typeface="Helvetica Neue"/>
              </a:defRPr>
            </a:pPr>
            <a:r>
              <a:t>¿A quién enviarme?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91640"/>
            <a:ext cx="107286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800">
                <a:solidFill>
                  <a:srgbClr val="454337"/>
                </a:solidFill>
                <a:latin typeface="Helvetica Neue"/>
              </a:defRPr>
            </a:pPr>
            <a:r>
              <a:t>Guía de Referencias para Socios y Perfil de Cliente Ideal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331720"/>
            <a:ext cx="38100" cy="868680"/>
          </a:xfrm>
          <a:prstGeom prst="rect">
            <a:avLst/>
          </a:prstGeom>
          <a:solidFill>
            <a:srgbClr val="2B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331720"/>
            <a:ext cx="10500055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1" i="1">
                <a:solidFill>
                  <a:srgbClr val="16161A"/>
                </a:solidFill>
                <a:latin typeface="Helvetica Neue"/>
              </a:defRPr>
            </a:pPr>
            <a:r>
              <a:t>“Desarrollamos tecnología alrededor de tu equipo — no para reemplazarlo.”</a:t>
            </a:r>
          </a:p>
          <a:p>
            <a:pPr>
              <a:defRPr sz="1300">
                <a:solidFill>
                  <a:srgbClr val="454337"/>
                </a:solidFill>
                <a:latin typeface="Helvetica Neue"/>
              </a:defRPr>
            </a:pPr>
            <a:r>
              <a:t>Aplicaciones Web en React  ·  Integraciones en Workday Finance y ERP  ·  Agentes de IA con Supervisión Humana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42900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611880"/>
            <a:ext cx="5157216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PRESENTADO POR</a:t>
            </a:r>
          </a:p>
          <a:p>
            <a:pPr>
              <a:spcAft>
                <a:spcPts val="400"/>
              </a:spcAft>
              <a:defRPr sz="1400" b="1">
                <a:solidFill>
                  <a:srgbClr val="16161A"/>
                </a:solidFill>
                <a:latin typeface="Helvetica Neue"/>
              </a:defRPr>
            </a:pPr>
            <a:r>
              <a:t>Roberto Guido  —  Fundador e Ingeniero Principal</a:t>
            </a:r>
          </a:p>
          <a:p>
            <a:pPr>
              <a:defRPr sz="1250">
                <a:solidFill>
                  <a:srgbClr val="454337"/>
                </a:solidFill>
                <a:latin typeface="Helvetica Neue"/>
              </a:defRPr>
            </a:pPr>
            <a:r>
              <a:t>Ingeniero Eléctrico (UC San Diego)  ·  MBA (NYU Stern)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216" y="3611880"/>
            <a:ext cx="5157216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D99B26"/>
                </a:solidFill>
                <a:latin typeface="Helvetica Neue"/>
              </a:defRPr>
            </a:pPr>
            <a:r>
              <a:t>UBICACIÓN DE LA PRÁCTICA Y CONTACTO</a:t>
            </a:r>
          </a:p>
          <a:p>
            <a:pPr>
              <a:spcAft>
                <a:spcPts val="400"/>
              </a:spcAft>
              <a:defRPr sz="1400" b="1">
                <a:solidFill>
                  <a:srgbClr val="16161A"/>
                </a:solidFill>
                <a:latin typeface="Helvetica Neue"/>
              </a:defRPr>
            </a:pPr>
            <a:r>
              <a:t>San Diego, CA y Tijuana, MX</a:t>
            </a:r>
          </a:p>
          <a:p>
            <a:pPr>
              <a:defRPr sz="1250">
                <a:solidFill>
                  <a:srgbClr val="2B59D9"/>
                </a:solidFill>
                <a:latin typeface="Helvetica Neue"/>
              </a:defRPr>
            </a:pPr>
            <a:r>
              <a:t>technologyconsultants.ventures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98348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120640"/>
            <a:ext cx="2514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16161A"/>
                </a:solidFill>
                <a:latin typeface="Helvetica Neue"/>
              </a:defRPr>
            </a:pPr>
            <a:r>
              <a:t>En producción.</a:t>
            </a:r>
          </a:p>
          <a:p>
            <a:pPr>
              <a:defRPr sz="1200">
                <a:solidFill>
                  <a:srgbClr val="454337"/>
                </a:solidFill>
                <a:latin typeface="Helvetica Neue"/>
              </a:defRPr>
            </a:pPr>
            <a:r>
              <a:t>Usuarios reales hoy en nuestros productos.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5120640"/>
            <a:ext cx="2514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16161A"/>
                </a:solidFill>
                <a:latin typeface="Helvetica Neue"/>
              </a:defRPr>
            </a:pPr>
            <a:r>
              <a:t>Equipo senior.</a:t>
            </a:r>
          </a:p>
          <a:p>
            <a:pPr>
              <a:defRPr sz="1200">
                <a:solidFill>
                  <a:srgbClr val="454337"/>
                </a:solidFill>
                <a:latin typeface="Helvetica Neue"/>
              </a:defRPr>
            </a:pPr>
            <a:r>
              <a:t>Quienes presentan tu proyecto lo construyen.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5120640"/>
            <a:ext cx="2514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16161A"/>
                </a:solidFill>
                <a:latin typeface="Helvetica Neue"/>
              </a:defRPr>
            </a:pPr>
            <a:r>
              <a:t>Código primero.</a:t>
            </a:r>
          </a:p>
          <a:p>
            <a:pPr>
              <a:defRPr sz="1200">
                <a:solidFill>
                  <a:srgbClr val="454337"/>
                </a:solidFill>
                <a:latin typeface="Helvetica Neue"/>
              </a:defRPr>
            </a:pPr>
            <a:r>
              <a:t>Software funcional antes que diapositivas.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5120640"/>
            <a:ext cx="2514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16161A"/>
                </a:solidFill>
                <a:latin typeface="Helvetica Neue"/>
              </a:defRPr>
            </a:pPr>
            <a:r>
              <a:t>Un solo equipo.</a:t>
            </a:r>
          </a:p>
          <a:p>
            <a:pPr>
              <a:defRPr sz="1200">
                <a:solidFill>
                  <a:srgbClr val="454337"/>
                </a:solidFill>
                <a:latin typeface="Helvetica Neue"/>
              </a:defRPr>
            </a:pPr>
            <a:r>
              <a:t>Interfaces y automatizaciones: mismo equipo.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736E62"/>
                </a:solidFill>
                <a:latin typeface="Helvetica Neue"/>
              </a:defRPr>
            </a:pPr>
            <a:r>
              <a:t>Technology Consultants  ·  technologyconsultants.ventures  ·  San Diego &amp; Tijuana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50">
                <a:solidFill>
                  <a:srgbClr val="736E62"/>
                </a:solidFill>
                <a:latin typeface="Helvetica Neue"/>
              </a:defRPr>
            </a:pPr>
            <a: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SERVICIOS Y CAPACIDADES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6161A"/>
                </a:solidFill>
                <a:latin typeface="Helvetica Neue"/>
              </a:defRPr>
            </a:pPr>
            <a:r>
              <a:t>Aplicaciones Web, Integraciones Empresariales y Agentes de IA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3328416" cy="25400"/>
          </a:xfrm>
          <a:prstGeom prst="rect">
            <a:avLst/>
          </a:prstGeom>
          <a:solidFill>
            <a:srgbClr val="2B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74520"/>
            <a:ext cx="33284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B59D9"/>
                </a:solidFill>
                <a:latin typeface="Helvetica Neue"/>
              </a:defRPr>
            </a:pPr>
            <a:r>
              <a:t>01</a:t>
            </a:r>
          </a:p>
          <a:p>
            <a:pPr>
              <a:spcAft>
                <a:spcPts val="1000"/>
              </a:spcAft>
              <a:defRPr sz="2000" b="1">
                <a:solidFill>
                  <a:srgbClr val="16161A"/>
                </a:solidFill>
                <a:latin typeface="Helvetica Neue"/>
              </a:defRPr>
            </a:pPr>
            <a:r>
              <a:t>Interfaces Personalizadas</a:t>
            </a:r>
          </a:p>
          <a:p>
            <a:pPr>
              <a:spcAft>
                <a:spcPts val="1600"/>
              </a:spcAft>
              <a:defRPr sz="1350">
                <a:solidFill>
                  <a:srgbClr val="454337"/>
                </a:solidFill>
                <a:latin typeface="Helvetica Neue"/>
              </a:defRPr>
            </a:pPr>
            <a:r>
              <a:t>Aplicaciones web en React de alto rendimiento, diseñadas para la velocidad e intuición de tu equipo.</a:t>
            </a:r>
          </a:p>
          <a:p>
            <a:pPr>
              <a:spcAft>
                <a:spcPts val="800"/>
              </a:spcAft>
              <a:defRPr sz="1350">
                <a:solidFill>
                  <a:srgbClr val="16161A"/>
                </a:solidFill>
                <a:latin typeface="Helvetica Neue"/>
              </a:defRPr>
            </a:pPr>
            <a:r>
              <a:t>•  Desarrollo web en React y TypeScript</a:t>
            </a:r>
          </a:p>
          <a:p>
            <a:pPr>
              <a:spcAft>
                <a:spcPts val="800"/>
              </a:spcAft>
              <a:defRPr sz="1350">
                <a:solidFill>
                  <a:srgbClr val="16161A"/>
                </a:solidFill>
                <a:latin typeface="Helvetica Neue"/>
              </a:defRPr>
            </a:pPr>
            <a:r>
              <a:t>•  Diseño UX accesible y responsivo</a:t>
            </a:r>
          </a:p>
          <a:p>
            <a:pPr>
              <a:spcAft>
                <a:spcPts val="800"/>
              </a:spcAft>
              <a:defRPr sz="1350">
                <a:solidFill>
                  <a:srgbClr val="16161A"/>
                </a:solidFill>
                <a:latin typeface="Helvetica Neue"/>
              </a:defRPr>
            </a:pPr>
            <a:r>
              <a:t>•  Flujos directos de pedidos y pagos</a:t>
            </a:r>
          </a:p>
        </p:txBody>
      </p:sp>
      <p:sp>
        <p:nvSpPr>
          <p:cNvPr id="6" name="Rectangle 5"/>
          <p:cNvSpPr/>
          <p:nvPr/>
        </p:nvSpPr>
        <p:spPr>
          <a:xfrm>
            <a:off x="4334256" y="1691640"/>
            <a:ext cx="3328416" cy="25400"/>
          </a:xfrm>
          <a:prstGeom prst="rect">
            <a:avLst/>
          </a:prstGeom>
          <a:solidFill>
            <a:srgbClr val="D99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34256" y="1874520"/>
            <a:ext cx="33284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D99B26"/>
                </a:solidFill>
                <a:latin typeface="Helvetica Neue"/>
              </a:defRPr>
            </a:pPr>
            <a:r>
              <a:t>02</a:t>
            </a:r>
          </a:p>
          <a:p>
            <a:pPr>
              <a:spcAft>
                <a:spcPts val="1000"/>
              </a:spcAft>
              <a:defRPr sz="2000" b="1">
                <a:solidFill>
                  <a:srgbClr val="16161A"/>
                </a:solidFill>
                <a:latin typeface="Helvetica Neue"/>
              </a:defRPr>
            </a:pPr>
            <a:r>
              <a:t>Integración de Sistemas</a:t>
            </a:r>
          </a:p>
          <a:p>
            <a:pPr>
              <a:spcAft>
                <a:spcPts val="1600"/>
              </a:spcAft>
              <a:defRPr sz="1350">
                <a:solidFill>
                  <a:srgbClr val="454337"/>
                </a:solidFill>
                <a:latin typeface="Helvetica Neue"/>
              </a:defRPr>
            </a:pPr>
            <a:r>
              <a:t>Integraciones financieras avanzadas, arquitectura de bases de datos y APIs empresariales.</a:t>
            </a:r>
          </a:p>
          <a:p>
            <a:pPr>
              <a:spcAft>
                <a:spcPts val="800"/>
              </a:spcAft>
              <a:defRPr sz="1350">
                <a:solidFill>
                  <a:srgbClr val="16161A"/>
                </a:solidFill>
                <a:latin typeface="Helvetica Neue"/>
              </a:defRPr>
            </a:pPr>
            <a:r>
              <a:t>•  Workday Finance y Adaptive Planning</a:t>
            </a:r>
          </a:p>
          <a:p>
            <a:pPr>
              <a:spcAft>
                <a:spcPts val="800"/>
              </a:spcAft>
              <a:defRPr sz="1350">
                <a:solidFill>
                  <a:srgbClr val="16161A"/>
                </a:solidFill>
                <a:latin typeface="Helvetica Neue"/>
              </a:defRPr>
            </a:pPr>
            <a:r>
              <a:t>•  Arquitectura en PostgreSQL</a:t>
            </a:r>
          </a:p>
          <a:p>
            <a:pPr>
              <a:spcAft>
                <a:spcPts val="800"/>
              </a:spcAft>
              <a:defRPr sz="1350">
                <a:solidFill>
                  <a:srgbClr val="16161A"/>
                </a:solidFill>
                <a:latin typeface="Helvetica Neue"/>
              </a:defRPr>
            </a:pPr>
            <a:r>
              <a:t>•  Pipelines de APIs REST y GraphQL</a:t>
            </a:r>
          </a:p>
        </p:txBody>
      </p:sp>
      <p:sp>
        <p:nvSpPr>
          <p:cNvPr id="8" name="Rectangle 7"/>
          <p:cNvSpPr/>
          <p:nvPr/>
        </p:nvSpPr>
        <p:spPr>
          <a:xfrm>
            <a:off x="7936992" y="1691640"/>
            <a:ext cx="3328416" cy="25400"/>
          </a:xfrm>
          <a:prstGeom prst="rect">
            <a:avLst/>
          </a:prstGeom>
          <a:solidFill>
            <a:srgbClr val="2B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36992" y="1874520"/>
            <a:ext cx="33284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2800" b="1">
                <a:solidFill>
                  <a:srgbClr val="2B59D9"/>
                </a:solidFill>
                <a:latin typeface="Helvetica Neue"/>
              </a:defRPr>
            </a:pPr>
            <a:r>
              <a:t>03</a:t>
            </a:r>
          </a:p>
          <a:p>
            <a:pPr>
              <a:spcAft>
                <a:spcPts val="1000"/>
              </a:spcAft>
              <a:defRPr sz="2000" b="1">
                <a:solidFill>
                  <a:srgbClr val="16161A"/>
                </a:solidFill>
                <a:latin typeface="Helvetica Neue"/>
              </a:defRPr>
            </a:pPr>
            <a:r>
              <a:t>IA Aplicada y Automatización</a:t>
            </a:r>
          </a:p>
          <a:p>
            <a:pPr>
              <a:spcAft>
                <a:spcPts val="1600"/>
              </a:spcAft>
              <a:defRPr sz="1350">
                <a:solidFill>
                  <a:srgbClr val="454337"/>
                </a:solidFill>
                <a:latin typeface="Helvetica Neue"/>
              </a:defRPr>
            </a:pPr>
            <a:r>
              <a:t>Servidores MCP personalizados y agentes de IA con supervisión humana.</a:t>
            </a:r>
          </a:p>
          <a:p>
            <a:pPr>
              <a:spcAft>
                <a:spcPts val="800"/>
              </a:spcAft>
              <a:defRPr sz="1350">
                <a:solidFill>
                  <a:srgbClr val="16161A"/>
                </a:solidFill>
                <a:latin typeface="Helvetica Neue"/>
              </a:defRPr>
            </a:pPr>
            <a:r>
              <a:t>•  Despliegue de servidores MCP</a:t>
            </a:r>
          </a:p>
          <a:p>
            <a:pPr>
              <a:spcAft>
                <a:spcPts val="800"/>
              </a:spcAft>
              <a:defRPr sz="1350">
                <a:solidFill>
                  <a:srgbClr val="16161A"/>
                </a:solidFill>
                <a:latin typeface="Helvetica Neue"/>
              </a:defRPr>
            </a:pPr>
            <a:r>
              <a:t>•  Orquestación de LLMs y extracción</a:t>
            </a:r>
          </a:p>
          <a:p>
            <a:pPr>
              <a:spcAft>
                <a:spcPts val="800"/>
              </a:spcAft>
              <a:defRPr sz="1350">
                <a:solidFill>
                  <a:srgbClr val="16161A"/>
                </a:solidFill>
                <a:latin typeface="Helvetica Neue"/>
              </a:defRPr>
            </a:pPr>
            <a:r>
              <a:t>•  Controles de seguridad humana (HITL)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736E62"/>
                </a:solidFill>
                <a:latin typeface="Helvetica Neue"/>
              </a:defRPr>
            </a:pPr>
            <a:r>
              <a:t>Technology Consultants  ·  technologyconsultants.ventures  ·  San Diego &amp; Tijuana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50">
                <a:solidFill>
                  <a:srgbClr val="736E62"/>
                </a:solidFill>
                <a:latin typeface="Helvetica Neue"/>
              </a:defRPr>
            </a:pPr>
            <a: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AUDIENCIA OBJETIVO E ICP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6161A"/>
                </a:solidFill>
                <a:latin typeface="Helvetica Neue"/>
              </a:defRPr>
            </a:pPr>
            <a:r>
              <a:t>Organizaciones Objetivo y Tomadores de Decisión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5157216" cy="25400"/>
          </a:xfrm>
          <a:prstGeom prst="rect">
            <a:avLst/>
          </a:prstGeom>
          <a:solidFill>
            <a:srgbClr val="2B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74520"/>
            <a:ext cx="51572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ORGANIZACIONES OBJETIVO</a:t>
            </a:r>
          </a:p>
          <a:p>
            <a:pPr>
              <a:spcAft>
                <a:spcPts val="1200"/>
              </a:spcAft>
              <a:defRPr b="1" sz="1400">
                <a:solidFill>
                  <a:srgbClr val="16161A"/>
                </a:solidFill>
                <a:latin typeface="Helvetica Neue"/>
              </a:defRPr>
            </a:pPr>
            <a:r>
              <a:t>•  Empresas Medianas (Mid-Market): </a:t>
            </a:r>
            <a:r>
              <a:rPr b="0" sz="1350">
                <a:solidFill>
                  <a:srgbClr val="454337"/>
                </a:solidFill>
              </a:rPr>
              <a:t>Organizaciones consolidadas que requieren conectar herramientas.</a:t>
            </a:r>
          </a:p>
          <a:p>
            <a:pPr>
              <a:spcAft>
                <a:spcPts val="1200"/>
              </a:spcAft>
              <a:defRPr b="1" sz="1400">
                <a:solidFill>
                  <a:srgbClr val="16161A"/>
                </a:solidFill>
                <a:latin typeface="Helvetica Neue"/>
              </a:defRPr>
            </a:pPr>
            <a:r>
              <a:t>•  PyMEs en Aceleración: </a:t>
            </a:r>
            <a:r>
              <a:rPr b="0" sz="1350">
                <a:solidFill>
                  <a:srgbClr val="454337"/>
                </a:solidFill>
              </a:rPr>
              <a:t>Equipos en crecimiento superando hojas de cálculo y SaaS aislados.</a:t>
            </a:r>
          </a:p>
          <a:p>
            <a:pPr>
              <a:spcAft>
                <a:spcPts val="1200"/>
              </a:spcAft>
              <a:defRPr b="1" sz="1400">
                <a:solidFill>
                  <a:srgbClr val="16161A"/>
                </a:solidFill>
                <a:latin typeface="Helvetica Neue"/>
              </a:defRPr>
            </a:pPr>
            <a:r>
              <a:t>•  Startups con VC: </a:t>
            </a:r>
            <a:r>
              <a:rPr b="0" sz="1350">
                <a:solidFill>
                  <a:srgbClr val="454337"/>
                </a:solidFill>
              </a:rPr>
              <a:t>Equipos que requieren arquitectura ágil y ejecución técnica veloz.</a:t>
            </a:r>
          </a:p>
          <a:p>
            <a:pPr>
              <a:spcAft>
                <a:spcPts val="1200"/>
              </a:spcAft>
              <a:defRPr b="1" sz="1400">
                <a:solidFill>
                  <a:srgbClr val="16161A"/>
                </a:solidFill>
                <a:latin typeface="Helvetica Neue"/>
              </a:defRPr>
            </a:pPr>
            <a:r>
              <a:t>•  Portafolio de PE / VC: </a:t>
            </a:r>
            <a:r>
              <a:rPr b="0" sz="1350">
                <a:solidFill>
                  <a:srgbClr val="454337"/>
                </a:solidFill>
              </a:rPr>
              <a:t>Empresas operativas optimizando eficiencia en su back-office.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0216" y="1691640"/>
            <a:ext cx="5157216" cy="25400"/>
          </a:xfrm>
          <a:prstGeom prst="rect">
            <a:avLst/>
          </a:prstGeom>
          <a:solidFill>
            <a:srgbClr val="D99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0216" y="1874520"/>
            <a:ext cx="51572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D99B26"/>
                </a:solidFill>
                <a:latin typeface="Helvetica Neue"/>
              </a:defRPr>
            </a:pPr>
            <a:r>
              <a:t>TOMADORES DE DECISIÓN</a:t>
            </a:r>
          </a:p>
          <a:p>
            <a:pPr>
              <a:spcAft>
                <a:spcPts val="1200"/>
              </a:spcAft>
              <a:defRPr b="1" sz="1400">
                <a:solidFill>
                  <a:srgbClr val="16161A"/>
                </a:solidFill>
                <a:latin typeface="Helvetica Neue"/>
              </a:defRPr>
            </a:pPr>
            <a:r>
              <a:t>•  CTOs y VPs de Ingeniería: </a:t>
            </a:r>
            <a:r>
              <a:rPr b="0" sz="1350">
                <a:solidFill>
                  <a:srgbClr val="454337"/>
                </a:solidFill>
              </a:rPr>
              <a:t>Buscando delegar desarrollo especializado de integración y agentes.</a:t>
            </a:r>
          </a:p>
          <a:p>
            <a:pPr>
              <a:spcAft>
                <a:spcPts val="1200"/>
              </a:spcAft>
              <a:defRPr b="1" sz="1400">
                <a:solidFill>
                  <a:srgbClr val="16161A"/>
                </a:solidFill>
                <a:latin typeface="Helvetica Neue"/>
              </a:defRPr>
            </a:pPr>
            <a:r>
              <a:t>•  CFOs y Directores de Finanzas: </a:t>
            </a:r>
            <a:r>
              <a:rPr b="0" sz="1350">
                <a:solidFill>
                  <a:srgbClr val="454337"/>
                </a:solidFill>
              </a:rPr>
              <a:t>Con cuellos de botella de datos en Workday/ERP y reportes.</a:t>
            </a:r>
          </a:p>
          <a:p>
            <a:pPr>
              <a:spcAft>
                <a:spcPts val="1200"/>
              </a:spcAft>
              <a:defRPr b="1" sz="1400">
                <a:solidFill>
                  <a:srgbClr val="16161A"/>
                </a:solidFill>
                <a:latin typeface="Helvetica Neue"/>
              </a:defRPr>
            </a:pPr>
            <a:r>
              <a:t>•  VPs de Operaciones: </a:t>
            </a:r>
            <a:r>
              <a:rPr b="0" sz="1350">
                <a:solidFill>
                  <a:srgbClr val="454337"/>
                </a:solidFill>
              </a:rPr>
              <a:t>Buscando eliminar carga administrativa en documentos y procesos.</a:t>
            </a:r>
          </a:p>
          <a:p>
            <a:pPr>
              <a:spcAft>
                <a:spcPts val="1200"/>
              </a:spcAft>
              <a:defRPr b="1" sz="1400">
                <a:solidFill>
                  <a:srgbClr val="16161A"/>
                </a:solidFill>
                <a:latin typeface="Helvetica Neue"/>
              </a:defRPr>
            </a:pPr>
            <a:r>
              <a:t>•  Fundadores y Líderes de Producto: </a:t>
            </a:r>
            <a:r>
              <a:rPr b="0" sz="1350">
                <a:solidFill>
                  <a:srgbClr val="454337"/>
                </a:solidFill>
              </a:rPr>
              <a:t>Construyendo software web crítico para el negocio con plazos.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736E62"/>
                </a:solidFill>
                <a:latin typeface="Helvetica Neue"/>
              </a:defRPr>
            </a:pPr>
            <a:r>
              <a:t>Technology Consultants  ·  technologyconsultants.ventures  ·  San Diego &amp; Tijuana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50">
                <a:solidFill>
                  <a:srgbClr val="736E62"/>
                </a:solidFill>
                <a:latin typeface="Helvetica Neue"/>
              </a:defRPr>
            </a:pPr>
            <a: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SEÑALES DE REFERENCIA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6161A"/>
                </a:solidFill>
                <a:latin typeface="Helvetica Neue"/>
              </a:defRPr>
            </a:pPr>
            <a:r>
              <a:t>Señales de Dolor Operativo que Indican un Buen Perfil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38100" cy="1097280"/>
          </a:xfrm>
          <a:prstGeom prst="rect">
            <a:avLst/>
          </a:prstGeom>
          <a:solidFill>
            <a:srgbClr val="2B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1050005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SEÑAL 01  ·  BACKENDS Y ERPS DESCONECTADOS</a:t>
            </a:r>
          </a:p>
          <a:p>
            <a:pPr>
              <a:defRPr sz="1550">
                <a:solidFill>
                  <a:srgbClr val="16161A"/>
                </a:solidFill>
                <a:latin typeface="Helvetica Neue"/>
              </a:defRPr>
            </a:pPr>
            <a:r>
              <a:t>“Nuestros sistemas de finanzas (Workday/ERP/PostgreSQL) no se conectan de manera fluida con nuestras herramientas web o flujos de IA.”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108960"/>
            <a:ext cx="38100" cy="1097280"/>
          </a:xfrm>
          <a:prstGeom prst="rect">
            <a:avLst/>
          </a:prstGeom>
          <a:solidFill>
            <a:srgbClr val="D99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108960"/>
            <a:ext cx="1050005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D99B26"/>
                </a:solidFill>
                <a:latin typeface="Helvetica Neue"/>
              </a:defRPr>
            </a:pPr>
            <a:r>
              <a:t>SEÑAL 02  ·  AMBICIÓN DE IA VS. SEGURIDAD EMPRESARIAL</a:t>
            </a:r>
          </a:p>
          <a:p>
            <a:pPr>
              <a:defRPr sz="1550">
                <a:solidFill>
                  <a:srgbClr val="16161A"/>
                </a:solidFill>
                <a:latin typeface="Helvetica Neue"/>
              </a:defRPr>
            </a:pPr>
            <a:r>
              <a:t>“Queremos aprovechar agentes de IA y LLMs, pero necesitamos controles estrictos de seguridad, permisos y validación humana (HITL).”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526280"/>
            <a:ext cx="38100" cy="1097280"/>
          </a:xfrm>
          <a:prstGeom prst="rect">
            <a:avLst/>
          </a:prstGeom>
          <a:solidFill>
            <a:srgbClr val="2B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526280"/>
            <a:ext cx="1050005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SEÑAL 03  ·  CUELLOS DE BOTELLA OPERATIVOS MANUALES</a:t>
            </a:r>
          </a:p>
          <a:p>
            <a:pPr>
              <a:defRPr sz="1550">
                <a:solidFill>
                  <a:srgbClr val="16161A"/>
                </a:solidFill>
                <a:latin typeface="Helvetica Neue"/>
              </a:defRPr>
            </a:pPr>
            <a:r>
              <a:t>“Nuestro equipo operativo pierde horas procesando facturas, reconciliando registros financieros o ejecutando tareas manuales repetitivas.”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736E62"/>
                </a:solidFill>
                <a:latin typeface="Helvetica Neue"/>
              </a:defRPr>
            </a:pPr>
            <a:r>
              <a:t>Technology Consultants  ·  technologyconsultants.ventures  ·  San Diego &amp; Tijuana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50">
                <a:solidFill>
                  <a:srgbClr val="736E62"/>
                </a:solidFill>
                <a:latin typeface="Helvetica Neue"/>
              </a:defRPr>
            </a:pPr>
            <a: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ARQUITECTURA PROBADA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6161A"/>
                </a:solidFill>
                <a:latin typeface="Helvetica Neue"/>
              </a:defRPr>
            </a:pPr>
            <a:r>
              <a:t>Integraciones Empresariales y Productos Propios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3328416" cy="25400"/>
          </a:xfrm>
          <a:prstGeom prst="rect">
            <a:avLst/>
          </a:prstGeom>
          <a:solidFill>
            <a:srgbClr val="D99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56232"/>
            <a:ext cx="3328416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D99B26"/>
                </a:solidFill>
                <a:latin typeface="Helvetica Neue"/>
              </a:defRPr>
            </a:pPr>
            <a:r>
              <a:t>INTEGRACIÓN EMPRESARIAL</a:t>
            </a:r>
          </a:p>
          <a:p>
            <a:pPr>
              <a:spcAft>
                <a:spcPts val="1000"/>
              </a:spcAft>
              <a:defRPr sz="2000" b="1">
                <a:solidFill>
                  <a:srgbClr val="16161A"/>
                </a:solidFill>
                <a:latin typeface="Helvetica Neue"/>
              </a:defRPr>
            </a:pPr>
            <a:r>
              <a:t>Workday Finance MCP</a:t>
            </a:r>
          </a:p>
          <a:p>
            <a:pPr>
              <a:defRPr sz="1350">
                <a:solidFill>
                  <a:srgbClr val="454337"/>
                </a:solidFill>
                <a:latin typeface="Helvetica Neue"/>
              </a:defRPr>
            </a:pPr>
            <a:r>
              <a:t>Servidores de Protocolo de Contexto de Modelo (MCP) que conectan Workday Finance y Adaptive directamente con flujos de IA.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34256" y="1691640"/>
            <a:ext cx="3328416" cy="25400"/>
          </a:xfrm>
          <a:prstGeom prst="rect">
            <a:avLst/>
          </a:prstGeom>
          <a:solidFill>
            <a:srgbClr val="2B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34256" y="1856232"/>
            <a:ext cx="3328416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IA DE VOZ (HARDWARE/SOFTWARE)</a:t>
            </a:r>
          </a:p>
          <a:p>
            <a:pPr>
              <a:spcAft>
                <a:spcPts val="1000"/>
              </a:spcAft>
              <a:defRPr sz="2000" b="1">
                <a:solidFill>
                  <a:srgbClr val="16161A"/>
                </a:solidFill>
                <a:latin typeface="Helvetica Neue"/>
              </a:defRPr>
            </a:pPr>
            <a:r>
              <a:t>Encounter AI</a:t>
            </a:r>
          </a:p>
          <a:p>
            <a:pPr>
              <a:defRPr sz="1350">
                <a:solidFill>
                  <a:srgbClr val="454337"/>
                </a:solidFill>
                <a:latin typeface="Helvetica Neue"/>
              </a:defRPr>
            </a:pPr>
            <a:r>
              <a:t>Diseño de IA de voz para pedidos en drive-thru y kioscos. Respaldado por Morgan Stanley Inclusive Ventures Lab.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36992" y="1691640"/>
            <a:ext cx="3328416" cy="25400"/>
          </a:xfrm>
          <a:prstGeom prst="rect">
            <a:avLst/>
          </a:prstGeom>
          <a:solidFill>
            <a:srgbClr val="2B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36992" y="1856232"/>
            <a:ext cx="3328416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Appt Helper · Open Cita · Border Bills</a:t>
            </a:r>
          </a:p>
          <a:p>
            <a:pPr>
              <a:spcAft>
                <a:spcPts val="1000"/>
              </a:spcAft>
              <a:defRPr sz="2000" b="1">
                <a:solidFill>
                  <a:srgbClr val="16161A"/>
                </a:solidFill>
                <a:latin typeface="Helvetica Neue"/>
              </a:defRPr>
            </a:pPr>
            <a:r>
              <a:t>In-House Products</a:t>
            </a:r>
          </a:p>
          <a:p>
            <a:pPr>
              <a:defRPr sz="1350">
                <a:solidFill>
                  <a:srgbClr val="454337"/>
                </a:solidFill>
                <a:latin typeface="Helvetica Neue"/>
              </a:defRPr>
            </a:pPr>
            <a:r>
              <a:t>Desarrollamos productos propios para validar la arquitectura, escalabilidad y operación antes de ofrecerlos a clientes.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98348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120640"/>
            <a:ext cx="2514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16161A"/>
                </a:solidFill>
                <a:latin typeface="Helvetica Neue"/>
              </a:defRPr>
            </a:pPr>
            <a:r>
              <a:t>En producción.</a:t>
            </a:r>
          </a:p>
          <a:p>
            <a:pPr>
              <a:spcBef>
                <a:spcPts val="200"/>
              </a:spcBef>
              <a:defRPr sz="1200">
                <a:solidFill>
                  <a:srgbClr val="454337"/>
                </a:solidFill>
                <a:latin typeface="Helvetica Neue"/>
              </a:defRPr>
            </a:pPr>
            <a:r>
              <a:t>Usuarios reales hoy en nuestros productos.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5120640"/>
            <a:ext cx="2514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16161A"/>
                </a:solidFill>
                <a:latin typeface="Helvetica Neue"/>
              </a:defRPr>
            </a:pPr>
            <a:r>
              <a:t>Equipo senior.</a:t>
            </a:r>
          </a:p>
          <a:p>
            <a:pPr>
              <a:spcBef>
                <a:spcPts val="200"/>
              </a:spcBef>
              <a:defRPr sz="1200">
                <a:solidFill>
                  <a:srgbClr val="454337"/>
                </a:solidFill>
                <a:latin typeface="Helvetica Neue"/>
              </a:defRPr>
            </a:pPr>
            <a:r>
              <a:t>Quienes presentan tu proyecto lo construyen.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5120640"/>
            <a:ext cx="2514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16161A"/>
                </a:solidFill>
                <a:latin typeface="Helvetica Neue"/>
              </a:defRPr>
            </a:pPr>
            <a:r>
              <a:t>Código primero.</a:t>
            </a:r>
          </a:p>
          <a:p>
            <a:pPr>
              <a:spcBef>
                <a:spcPts val="200"/>
              </a:spcBef>
              <a:defRPr sz="1200">
                <a:solidFill>
                  <a:srgbClr val="454337"/>
                </a:solidFill>
                <a:latin typeface="Helvetica Neue"/>
              </a:defRPr>
            </a:pPr>
            <a:r>
              <a:t>Software funcional antes que diapositivas.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60" y="5120640"/>
            <a:ext cx="2514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500" b="1">
                <a:solidFill>
                  <a:srgbClr val="16161A"/>
                </a:solidFill>
                <a:latin typeface="Helvetica Neue"/>
              </a:defRPr>
            </a:pPr>
            <a:r>
              <a:t>Un solo equipo.</a:t>
            </a:r>
          </a:p>
          <a:p>
            <a:pPr>
              <a:spcBef>
                <a:spcPts val="200"/>
              </a:spcBef>
              <a:defRPr sz="1200">
                <a:solidFill>
                  <a:srgbClr val="454337"/>
                </a:solidFill>
                <a:latin typeface="Helvetica Neue"/>
              </a:defRPr>
            </a:pPr>
            <a:r>
              <a:t>Interfaces y automatizaciones: mismo equipo.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736E62"/>
                </a:solidFill>
                <a:latin typeface="Helvetica Neue"/>
              </a:defRPr>
            </a:pPr>
            <a:r>
              <a:t>Technology Consultants  ·  technologyconsultants.ventures  ·  San Diego &amp; Tijuana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50">
                <a:solidFill>
                  <a:srgbClr val="736E62"/>
                </a:solidFill>
                <a:latin typeface="Helvetica Neue"/>
              </a:defRPr>
            </a:pPr>
            <a: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FILTROS DE DESCARTE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6161A"/>
                </a:solidFill>
                <a:latin typeface="Helvetica Neue"/>
              </a:defRPr>
            </a:pPr>
            <a:r>
              <a:t>Proyectos No Adecuados que Declinamos Educadamente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38100" cy="4114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49286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  <a:defRPr sz="1100" b="1">
                <a:solidFill>
                  <a:srgbClr val="DC2626"/>
                </a:solidFill>
                <a:latin typeface="Helvetica Neue"/>
              </a:defRPr>
            </a:pPr>
            <a:r>
              <a:t>❌  PROYECTOS DE PLANTILLAS O BAJO COSTO</a:t>
            </a:r>
          </a:p>
          <a:p>
            <a:pPr>
              <a:spcAft>
                <a:spcPts val="1000"/>
              </a:spcAft>
              <a:defRPr sz="1350">
                <a:solidFill>
                  <a:srgbClr val="454337"/>
                </a:solidFill>
                <a:latin typeface="Helvetica Neue"/>
              </a:defRPr>
            </a:pPr>
            <a:r>
              <a:t>✕  Búsqueda de maquila offshore o tarifas por hora de bajo costo.</a:t>
            </a:r>
          </a:p>
          <a:p>
            <a:pPr>
              <a:spcAft>
                <a:spcPts val="1000"/>
              </a:spcAft>
              <a:defRPr sz="1350">
                <a:solidFill>
                  <a:srgbClr val="454337"/>
                </a:solidFill>
                <a:latin typeface="Helvetica Neue"/>
              </a:defRPr>
            </a:pPr>
            <a:r>
              <a:t>✕  Sitios web básicos en WordPress o plantillas genéricas sin código.</a:t>
            </a:r>
          </a:p>
          <a:p>
            <a:pPr>
              <a:spcAft>
                <a:spcPts val="1000"/>
              </a:spcAft>
              <a:defRPr sz="1350">
                <a:solidFill>
                  <a:srgbClr val="454337"/>
                </a:solidFill>
                <a:latin typeface="Helvetica Neue"/>
              </a:defRPr>
            </a:pPr>
            <a:r>
              <a:t>✕  Sin presupuesto de ingeniería o sin intención de invertir en arquitectura.</a:t>
            </a:r>
          </a:p>
          <a:p>
            <a:pPr>
              <a:spcAft>
                <a:spcPts val="1000"/>
              </a:spcAft>
              <a:defRPr sz="1350">
                <a:solidFill>
                  <a:srgbClr val="454337"/>
                </a:solidFill>
                <a:latin typeface="Helvetica Neue"/>
              </a:defRPr>
            </a:pPr>
            <a:r>
              <a:t>✕  Objetivos de negocio difusos sin métricas claras de resultado.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0216" y="1691640"/>
            <a:ext cx="38100" cy="4114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28816" y="1691640"/>
            <a:ext cx="49286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  <a:defRPr sz="1100" b="1">
                <a:solidFill>
                  <a:srgbClr val="DC2626"/>
                </a:solidFill>
                <a:latin typeface="Helvetica Neue"/>
              </a:defRPr>
            </a:pPr>
            <a:r>
              <a:t>❌  PROYECTOS DE "FIEBRE DE IA" SIN ORDEN</a:t>
            </a:r>
          </a:p>
          <a:p>
            <a:pPr>
              <a:spcAft>
                <a:spcPts val="1000"/>
              </a:spcAft>
              <a:defRPr sz="1350">
                <a:solidFill>
                  <a:srgbClr val="454337"/>
                </a:solidFill>
                <a:latin typeface="Helvetica Neue"/>
              </a:defRPr>
            </a:pPr>
            <a:r>
              <a:t>✕  Envoltorios superficiales de IA sin integración a backend o APIs reales.</a:t>
            </a:r>
          </a:p>
          <a:p>
            <a:pPr>
              <a:spcAft>
                <a:spcPts val="1000"/>
              </a:spcAft>
              <a:defRPr sz="1350">
                <a:solidFill>
                  <a:srgbClr val="454337"/>
                </a:solidFill>
                <a:latin typeface="Helvetica Neue"/>
              </a:defRPr>
            </a:pPr>
            <a:r>
              <a:t>✕  Poca disposición para mantener orden de datos, seguridad o supervisión humana.</a:t>
            </a:r>
          </a:p>
          <a:p>
            <a:pPr>
              <a:spcAft>
                <a:spcPts val="1000"/>
              </a:spcAft>
              <a:defRPr sz="1350">
                <a:solidFill>
                  <a:srgbClr val="454337"/>
                </a:solidFill>
                <a:latin typeface="Helvetica Neue"/>
              </a:defRPr>
            </a:pPr>
            <a:r>
              <a:t>✕  Expectativas de magia de IA sin diseño estructurado de procesos.</a:t>
            </a:r>
          </a:p>
          <a:p>
            <a:pPr>
              <a:spcAft>
                <a:spcPts val="1000"/>
              </a:spcAft>
              <a:defRPr sz="1350">
                <a:solidFill>
                  <a:srgbClr val="454337"/>
                </a:solidFill>
                <a:latin typeface="Helvetica Neue"/>
              </a:defRPr>
            </a:pPr>
            <a:r>
              <a:t>✕  Sin un experto interno del negocio para validar los resultados de la IA.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736E62"/>
                </a:solidFill>
                <a:latin typeface="Helvetica Neue"/>
              </a:defRPr>
            </a:pPr>
            <a:r>
              <a:t>Technology Consultants  ·  technologyconsultants.ventures  ·  San Diego &amp; Tijuana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50">
                <a:solidFill>
                  <a:srgbClr val="736E62"/>
                </a:solidFill>
                <a:latin typeface="Helvetica Neue"/>
              </a:defRPr>
            </a:pPr>
            <a: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MODELOS DE COLABORACIÓN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6161A"/>
                </a:solidFill>
                <a:latin typeface="Helvetica Neue"/>
              </a:defRPr>
            </a:pPr>
            <a:r>
              <a:t>Opciones por Sprint, Proyecto y Retainer Mensual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3328416" cy="25400"/>
          </a:xfrm>
          <a:prstGeom prst="rect">
            <a:avLst/>
          </a:prstGeom>
          <a:solidFill>
            <a:srgbClr val="2B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56232"/>
            <a:ext cx="33284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2 A 4 SEMANAS</a:t>
            </a:r>
          </a:p>
          <a:p>
            <a:pPr>
              <a:spcAft>
                <a:spcPts val="1200"/>
              </a:spcAft>
              <a:defRPr sz="2000" b="1">
                <a:solidFill>
                  <a:srgbClr val="16161A"/>
                </a:solidFill>
                <a:latin typeface="Helvetica Neue"/>
              </a:defRPr>
            </a:pPr>
            <a:r>
              <a:t>1. Proof-of-Concept Sprint</a:t>
            </a:r>
          </a:p>
          <a:p>
            <a:pPr>
              <a:defRPr sz="1400">
                <a:solidFill>
                  <a:srgbClr val="454337"/>
                </a:solidFill>
                <a:latin typeface="Helvetica Neue"/>
              </a:defRPr>
            </a:pPr>
            <a:r>
              <a:t>Validación inicial de bajo riesgo para construir un prototipo funcional, probar integración de APIs (Workday/MCP) y confirmar factibilidad.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34256" y="1691640"/>
            <a:ext cx="3328416" cy="25400"/>
          </a:xfrm>
          <a:prstGeom prst="rect">
            <a:avLst/>
          </a:prstGeom>
          <a:solidFill>
            <a:srgbClr val="2B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34256" y="1856232"/>
            <a:ext cx="33284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POR PROYECTO</a:t>
            </a:r>
          </a:p>
          <a:p>
            <a:pPr>
              <a:spcAft>
                <a:spcPts val="1200"/>
              </a:spcAft>
              <a:defRPr sz="2000" b="1">
                <a:solidFill>
                  <a:srgbClr val="16161A"/>
                </a:solidFill>
                <a:latin typeface="Helvetica Neue"/>
              </a:defRPr>
            </a:pPr>
            <a:r>
              <a:t>2. Full Implementation</a:t>
            </a:r>
          </a:p>
          <a:p>
            <a:pPr>
              <a:defRPr sz="1400">
                <a:solidFill>
                  <a:srgbClr val="454337"/>
                </a:solidFill>
                <a:latin typeface="Helvetica Neue"/>
              </a:defRPr>
            </a:pPr>
            <a:r>
              <a:t>Desarrollo integral de software web en React, arquitectura backend de integración, flujos de automatización de IA y producción.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936992" y="1691640"/>
            <a:ext cx="3328416" cy="25400"/>
          </a:xfrm>
          <a:prstGeom prst="rect">
            <a:avLst/>
          </a:prstGeom>
          <a:solidFill>
            <a:srgbClr val="2B5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36992" y="1856232"/>
            <a:ext cx="3328416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RETAINER MENSUAL</a:t>
            </a:r>
          </a:p>
          <a:p>
            <a:pPr>
              <a:spcAft>
                <a:spcPts val="1200"/>
              </a:spcAft>
              <a:defRPr sz="2000" b="1">
                <a:solidFill>
                  <a:srgbClr val="16161A"/>
                </a:solidFill>
                <a:latin typeface="Helvetica Neue"/>
              </a:defRPr>
            </a:pPr>
            <a:r>
              <a:t>3. Strategic Advisory</a:t>
            </a:r>
          </a:p>
          <a:p>
            <a:pPr>
              <a:defRPr sz="1400">
                <a:solidFill>
                  <a:srgbClr val="454337"/>
                </a:solidFill>
                <a:latin typeface="Helvetica Neue"/>
              </a:defRPr>
            </a:pPr>
            <a:r>
              <a:t>Liderazgo técnico continuo, revisión de arquitectura de sistemas, hoja de ruta de adopción de IA y acompañamiento técnico.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736E62"/>
                </a:solidFill>
                <a:latin typeface="Helvetica Neue"/>
              </a:defRPr>
            </a:pPr>
            <a:r>
              <a:t>Technology Consultants  ·  technologyconsultants.ventures  ·  San Diego &amp; Tijuana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50">
                <a:solidFill>
                  <a:srgbClr val="736E62"/>
                </a:solidFill>
                <a:latin typeface="Helvetica Neue"/>
              </a:defRPr>
            </a:pPr>
            <a: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02920"/>
            <a:ext cx="10728655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2B59D9"/>
                </a:solidFill>
                <a:latin typeface="Helvetica Neue"/>
              </a:defRPr>
            </a:pPr>
            <a:r>
              <a:t>PRÓXIMOS PASOS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16161A"/>
                </a:solidFill>
                <a:latin typeface="Helvetica Neue"/>
              </a:defRPr>
            </a:pPr>
            <a:r>
              <a:t>Plantilla Recomendada de Introducción por Correo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91640"/>
            <a:ext cx="38100" cy="2926080"/>
          </a:xfrm>
          <a:prstGeom prst="rect">
            <a:avLst/>
          </a:prstGeom>
          <a:solidFill>
            <a:srgbClr val="D99B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691640"/>
            <a:ext cx="10500055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100" b="1">
                <a:solidFill>
                  <a:srgbClr val="D99B26"/>
                </a:solidFill>
                <a:latin typeface="Helvetica Neue"/>
              </a:defRPr>
            </a:pPr>
            <a:r>
              <a:t>PLANTILLA RECOMENDADA PARA CORREO</a:t>
            </a:r>
          </a:p>
          <a:p>
            <a:pPr>
              <a:spcAft>
                <a:spcPts val="1000"/>
              </a:spcAft>
              <a:defRPr sz="1600">
                <a:solidFill>
                  <a:srgbClr val="16161A"/>
                </a:solidFill>
                <a:latin typeface="Helvetica Neue"/>
              </a:defRPr>
            </a:pPr>
            <a:r>
              <a:t>“Hola [Nombre] — Me gustaría presentarte a Roberto Guido, Fundador e Ingeniero Principal en Technology Consultants.</a:t>
            </a:r>
          </a:p>
          <a:p>
            <a:pPr>
              <a:defRPr sz="1600">
                <a:solidFill>
                  <a:srgbClr val="16161A"/>
                </a:solidFill>
                <a:latin typeface="Helvetica Neue"/>
              </a:defRPr>
            </a:pPr>
            <a:r>
              <a:t>Ellos desarrollan tecnología alrededor de tu equipo — conectando interfaces web a la medida con sistemas backend complejos (como Workday Finance) y automatizaciones seguras de IA con supervisión humana. Dado lo que comentaste sobre [punto de dolor], creo que sería muy valioso que conversen.”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89204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074920"/>
            <a:ext cx="1072865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000" b="1">
                <a:solidFill>
                  <a:srgbClr val="16161A"/>
                </a:solidFill>
                <a:latin typeface="Helvetica Neue"/>
              </a:defRPr>
            </a:pPr>
            <a:r>
              <a:t>Roberto Guido  |  Technology Consultants</a:t>
            </a:r>
          </a:p>
          <a:p>
            <a:pPr>
              <a:spcBef>
                <a:spcPts val="400"/>
              </a:spcBef>
              <a:defRPr sz="1400">
                <a:solidFill>
                  <a:srgbClr val="2B59D9"/>
                </a:solidFill>
                <a:latin typeface="Helvetica Neue"/>
              </a:defRPr>
            </a:pPr>
            <a:r>
              <a:t>Sitio web: technologyconsultants.ventures   ·   San Diego y Tijuana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6263640"/>
            <a:ext cx="10728655" cy="12700"/>
          </a:xfrm>
          <a:prstGeom prst="rect">
            <a:avLst/>
          </a:prstGeom>
          <a:solidFill>
            <a:srgbClr val="E2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3550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>
                <a:solidFill>
                  <a:srgbClr val="736E62"/>
                </a:solidFill>
                <a:latin typeface="Helvetica Neue"/>
              </a:defRPr>
            </a:pPr>
            <a:r>
              <a:t>Technology Consultants  ·  technologyconsultants.ventures  ·  San Diego &amp; Tijuana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31375" y="63550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50">
                <a:solidFill>
                  <a:srgbClr val="736E62"/>
                </a:solidFill>
                <a:latin typeface="Helvetica Neue"/>
              </a:defRPr>
            </a:pPr>
            <a: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