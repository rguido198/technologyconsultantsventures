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GUÍA DE REFERENCIA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› ARQUITECTURA DE SISTEMAS E INTEGRACIÓN</a:t>
            </a:r>
          </a:p>
          <a:p>
            <a:pPr>
              <a:spcAft>
                <a:spcPts val="1400"/>
              </a:spcAft>
              <a:defRPr sz="4200" b="1">
                <a:solidFill>
                  <a:srgbClr val="FFFFFF"/>
                </a:solidFill>
                <a:latin typeface="Helvetica"/>
              </a:defRPr>
            </a:pPr>
            <a:r>
              <a:t>¿A quién enviarme?</a:t>
            </a:r>
          </a:p>
          <a:p>
            <a:pPr>
              <a:spcAft>
                <a:spcPts val="2800"/>
              </a:spcAft>
              <a:defRPr sz="1800">
                <a:solidFill>
                  <a:srgbClr val="B4B9C3"/>
                </a:solidFill>
                <a:latin typeface="Helvetica"/>
              </a:defRPr>
            </a:pPr>
            <a:r>
              <a:t>Guía de Referencias para Socios y Perfil de Cliente Ideal</a:t>
            </a:r>
          </a:p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LÍDER DE PRÁCTICA:</a:t>
            </a:r>
          </a:p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Roberto Guido</a:t>
            </a:r>
          </a:p>
          <a:p>
            <a:pPr>
              <a:defRPr sz="1300">
                <a:solidFill>
                  <a:srgbClr val="D99B26"/>
                </a:solidFill>
                <a:latin typeface="Helvetica"/>
              </a:defRPr>
            </a:pPr>
            <a:r>
              <a:t>Ingeniero Eléctrico (UC San Diego) · MBA (NYU Stern)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463040"/>
            <a:ext cx="4572000" cy="4114800"/>
          </a:xfrm>
          <a:prstGeom prst="round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solidFill>
            <a:srgbClr val="1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95160" y="1572768"/>
            <a:ext cx="128016" cy="12801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1572768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60920" y="157276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53619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Courier New"/>
              </a:defRPr>
            </a:pPr>
            <a:r>
              <a:t>bash — system_status.log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9659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$ agy init --practica tecnologia-consultantes</a:t>
            </a:r>
          </a:p>
          <a:p>
            <a:pPr>
              <a:spcAft>
                <a:spcPts val="600"/>
              </a:spcAft>
              <a:defRPr sz="1100">
                <a:solidFill>
                  <a:srgbClr val="D99B26"/>
                </a:solidFill>
                <a:latin typeface="Courier New"/>
              </a:defRPr>
            </a:pPr>
            <a:r>
              <a:t>[INFO] Inicializando contexto de práctica...</a:t>
            </a:r>
          </a:p>
          <a:p>
            <a:pPr>
              <a:spcAft>
                <a:spcPts val="600"/>
              </a:spcAft>
              <a:defRPr sz="1100">
                <a:solidFill>
                  <a:srgbClr val="D99B26"/>
                </a:solidFill>
                <a:latin typeface="Courier New"/>
              </a:defRPr>
            </a:pPr>
            <a:r>
              <a:t>[INFO] Fundador: Roberto Guido (UC San Diego / NYU Stern)</a:t>
            </a:r>
          </a:p>
          <a:p>
            <a:pPr>
              <a:spcAft>
                <a:spcPts val="600"/>
              </a:spcAft>
              <a:defRPr sz="1100">
                <a:solidFill>
                  <a:srgbClr val="D99B26"/>
                </a:solidFill>
                <a:latin typeface="Courier New"/>
              </a:defRPr>
            </a:pPr>
            <a:r>
              <a:t>[INFO] Enfoque: React UI + Workday Finance + IA Aplicada</a:t>
            </a:r>
          </a:p>
          <a:p>
            <a:pPr>
              <a:spcAft>
                <a:spcPts val="600"/>
              </a:spcAft>
              <a:defRPr sz="1100">
                <a:solidFill>
                  <a:srgbClr val="35B9CC"/>
                </a:solidFill>
                <a:latin typeface="Courier New"/>
              </a:defRPr>
            </a:pPr>
            <a:r>
              <a:t>[RUN] Verificación: Controles de Seguridad HITL ... OK</a:t>
            </a:r>
          </a:p>
          <a:p>
            <a:pPr>
              <a:spcAft>
                <a:spcPts val="600"/>
              </a:spcAft>
              <a:defRPr sz="1100">
                <a:solidFill>
                  <a:srgbClr val="35B9CC"/>
                </a:solidFill>
                <a:latin typeface="Courier New"/>
              </a:defRPr>
            </a:pPr>
            <a:r>
              <a:t>[SUCCESS] Práctica activa. Listo para referencias.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01 / VISTA GENERAL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770632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2B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77063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SERVICIOS Y CAPACIDADES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De la Ingeniería a los Resultados de Negocio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328416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9B26"/>
                </a:solidFill>
                <a:latin typeface="Courier New"/>
              </a:defRPr>
            </a:pPr>
            <a:r>
              <a:t>[ 01_UI ]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Interfaces Personalizadas</a:t>
            </a:r>
          </a:p>
          <a:p>
            <a:pPr>
              <a:defRPr sz="1400">
                <a:solidFill>
                  <a:srgbClr val="454337"/>
                </a:solidFill>
                <a:latin typeface="Helvetica"/>
              </a:defRPr>
            </a:pPr>
            <a:r>
              <a:t>Aplicaciones web en React de alto rendimiento e interfaces intuitivas diseñadas para ejecución ágil de procesos.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20240"/>
            <a:ext cx="3328416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9B26"/>
                </a:solidFill>
                <a:latin typeface="Courier New"/>
              </a:defRPr>
            </a:pPr>
            <a:r>
              <a:t>[ 02_ERP ]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Integración de Sistemas</a:t>
            </a:r>
          </a:p>
          <a:p>
            <a:pPr>
              <a:defRPr sz="1400">
                <a:solidFill>
                  <a:srgbClr val="454337"/>
                </a:solidFill>
                <a:latin typeface="Helvetica"/>
              </a:defRPr>
            </a:pPr>
            <a:r>
              <a:t>Integraciones financieras avanzadas (Workday Finance y Adaptive Planning), bases de datos PostgreSQL y APIs empresariales.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920240"/>
            <a:ext cx="3328416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9B26"/>
                </a:solidFill>
                <a:latin typeface="Courier New"/>
              </a:defRPr>
            </a:pPr>
            <a:r>
              <a:t>[ 03_MCP ]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IA Aplicada y Automatización</a:t>
            </a:r>
          </a:p>
          <a:p>
            <a:pPr>
              <a:defRPr sz="1400">
                <a:solidFill>
                  <a:srgbClr val="454337"/>
                </a:solidFill>
                <a:latin typeface="Helvetica"/>
              </a:defRPr>
            </a:pPr>
            <a:r>
              <a:t>Servidores MCP personalizados, flujos con LLMs y agentes de IA con supervisión humana (HITL) para seguridad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02 / PERFIL OBJETIVO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3374136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D99B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337413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PERFIL DE CLIENTE IDEAL (ICP)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¿Quiénes se benefician más de nuestra práctica?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ORGANIZACIONES OBJETIVO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Empresas Medianas (Mid-Market): </a:t>
            </a:r>
            <a:r>
              <a:rPr b="0">
                <a:solidFill>
                  <a:srgbClr val="454337"/>
                </a:solidFill>
                <a:latin typeface="Helvetica"/>
              </a:rPr>
              <a:t>Organizaciones consolidadas que requieren conectar herramientas.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PyMEs en Aceleración: </a:t>
            </a:r>
            <a:r>
              <a:rPr b="0">
                <a:solidFill>
                  <a:srgbClr val="454337"/>
                </a:solidFill>
                <a:latin typeface="Helvetica"/>
              </a:rPr>
              <a:t>Equipos en crecimiento superando hojas de cálculo y SaaS aislados.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Startups con VC: </a:t>
            </a:r>
            <a:r>
              <a:rPr b="0">
                <a:solidFill>
                  <a:srgbClr val="454337"/>
                </a:solidFill>
                <a:latin typeface="Helvetica"/>
              </a:rPr>
              <a:t>Equipos que requieren arquitectura ágil y ejecución técnica veloz.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Portafolio de PE / VC: </a:t>
            </a:r>
            <a:r>
              <a:rPr b="0">
                <a:solidFill>
                  <a:srgbClr val="454337"/>
                </a:solidFill>
                <a:latin typeface="Helvetica"/>
              </a:rPr>
              <a:t>Empresas operativas optimizando eficiencia en su back-office.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TOMADORES DE DECISIÓN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CTOs y VPs de Ingeniería: </a:t>
            </a:r>
            <a:r>
              <a:rPr b="0">
                <a:solidFill>
                  <a:srgbClr val="454337"/>
                </a:solidFill>
                <a:latin typeface="Helvetica"/>
              </a:rPr>
              <a:t>Buscando delegar desarrollo especializado de integración y agentes.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CFOs y Directores de Finanzas: </a:t>
            </a:r>
            <a:r>
              <a:rPr b="0">
                <a:solidFill>
                  <a:srgbClr val="454337"/>
                </a:solidFill>
                <a:latin typeface="Helvetica"/>
              </a:rPr>
              <a:t>Con cuellos de botella de datos en Workday/ERP y reportes.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VPs de Operaciones: </a:t>
            </a:r>
            <a:r>
              <a:rPr b="0">
                <a:solidFill>
                  <a:srgbClr val="454337"/>
                </a:solidFill>
                <a:latin typeface="Helvetica"/>
              </a:rPr>
              <a:t>Buscando eliminar carga administrativa en documentos y procesos.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Fundadores y Líderes de Producto: </a:t>
            </a:r>
            <a:r>
              <a:rPr b="0">
                <a:solidFill>
                  <a:srgbClr val="454337"/>
                </a:solidFill>
                <a:latin typeface="Helvetica"/>
              </a:rPr>
              <a:t>Construyendo software web crítico para el negocio con plazos.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03 / SEÑALES DE REFERENCIA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670048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2B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670048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SEÑALES DE OPORTUNIDAD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74519"/>
            <a:ext cx="1072865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7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SIGNAL 01 // DISCONNECTED BACKENDS &amp; ERPS</a:t>
            </a:r>
          </a:p>
          <a:p>
            <a:pPr>
              <a:defRPr sz="1300" i="1">
                <a:solidFill>
                  <a:srgbClr val="16161A"/>
                </a:solidFill>
                <a:latin typeface="Helvetica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39"/>
            <a:ext cx="1072865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01567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SIGNAL 02 // AI AMBITIONS VS. ENTERPRISE SECURITY</a:t>
            </a:r>
          </a:p>
          <a:p>
            <a:pPr>
              <a:defRPr sz="1300" i="1">
                <a:solidFill>
                  <a:srgbClr val="16161A"/>
                </a:solidFill>
                <a:latin typeface="Helvetica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9160"/>
            <a:ext cx="1072865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18888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SIGNAL 03 // MANUAL PROCESS BOTTLENECKS</a:t>
            </a:r>
          </a:p>
          <a:p>
            <a:pPr>
              <a:defRPr sz="1300" i="1">
                <a:solidFill>
                  <a:srgbClr val="16161A"/>
                </a:solidFill>
                <a:latin typeface="Helvetica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04 / TRAYECTORIA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468880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D99B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4688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ARQUITECTURA PROBADA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Probado en Entornos Operativos Reales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[ INTEGRACIÓN EMPRESARIAL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[ IA DE VOZ (HARDWARE/SOFTWARE)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Encounter AI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[ Appt Helper · Open Cita · Border Bills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In-House Products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05 / FILTROS DE DESCARTE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368296" cy="2926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368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DC2626"/>
                </a:solidFill>
                <a:latin typeface="Courier New"/>
              </a:defRPr>
            </a:pPr>
            <a:r>
              <a:t>FILTROS DE DESCARTE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¿Quiénes NO son un buen perfil? (Cuida la Calidad)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DC2626"/>
                </a:solidFill>
                <a:latin typeface="Courier New"/>
              </a:defRPr>
            </a:pPr>
            <a:r>
              <a:t>❌ PROYECTOS DE PLANTILLAS O BAJO COSTO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Búsqueda de maquila offshore o tarifas por hora de bajo costo.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Sitios web básicos en WordPress o plantillas genéricas sin código.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Sin presupuesto de ingeniería o sin intención de invertir en arquitectura.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Objetivos de negocio difusos sin métricas claras de resultado.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DC2626"/>
                </a:solidFill>
                <a:latin typeface="Courier New"/>
              </a:defRPr>
            </a:pPr>
            <a:r>
              <a:t>❌ PROYECTOS DE "FIEBRE DE IA" SIN ORDEN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Envoltorios superficiales de IA sin integración a backend o APIs reales.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Poca disposición para mantener orden de datos, seguridad o supervisión humana.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Expectativas de magia de IA sin diseño estructurado de procesos.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Sin un experto interno del negocio para validar los resultados de la 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06 / MODELOS DE TRABAJO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267712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2B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26771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MODELOS DE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Modelos Flexibles de Colaboración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[ 2 A 4 SEMANAS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POR PROYECTO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RETAINER MENSUAL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07 / HACER INTRODUCCIÓN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Cómo Hacer la Introducción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728655" cy="3291840"/>
          </a:xfrm>
          <a:prstGeom prst="round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10728655" cy="365760"/>
          </a:xfrm>
          <a:prstGeom prst="rect">
            <a:avLst/>
          </a:prstGeom>
          <a:solidFill>
            <a:srgbClr val="1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55648"/>
            <a:ext cx="128016" cy="12801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755648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34440" y="175564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719072"/>
            <a:ext cx="9814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Courier New"/>
              </a:defRPr>
            </a:pPr>
            <a:r>
              <a:t>bash — email_intro_template.txt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4884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PLANTILLA RECOMENDADA PARA CORREO:</a:t>
            </a: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Ellos se especializan en conectar interfaces web a la medida con sistemas backend complejos (como Workday Finance) y construir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D99B26"/>
                </a:solidFill>
                <a:latin typeface="Courier New"/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