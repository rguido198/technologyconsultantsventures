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GUÍA DE REFERENCIAS PARA SOCIOS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16161A"/>
                </a:solidFill>
                <a:latin typeface="Helvetica Neue"/>
              </a:defRPr>
            </a:pPr>
            <a:r>
              <a:t>Desarrollamos tecnología alrededor de tu equipo — no para reemplazarlo.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50">
                <a:solidFill>
                  <a:srgbClr val="454337"/>
                </a:solidFill>
                <a:latin typeface="Helvetica Neue"/>
              </a:defRPr>
            </a:pPr>
            <a:r>
              <a:t>Desarrollamos software que elimina tareas repetitivas de tu equipo — desde aplicaciones web automatizadas hasta agentes de IA con supervisión humana en cada proceso clave donde el dinero, la confianza o el criterio importan.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2900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515721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CAPACIDADES CLAVE</a:t>
            </a:r>
          </a:p>
          <a:p>
            <a:pPr>
              <a:defRPr sz="1250">
                <a:solidFill>
                  <a:srgbClr val="16161A"/>
                </a:solidFill>
                <a:latin typeface="Helvetica Neue"/>
              </a:defRPr>
            </a:pPr>
            <a:r>
              <a:t>Aplicaciones Web en React y TypeScript  ·  Integraciones en Workday Finance y Adaptive  ·  Agentes de IA con Supervisión Humana (HITL)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3611880"/>
            <a:ext cx="515721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D99B26"/>
                </a:solidFill>
                <a:latin typeface="Helvetica Neue"/>
              </a:defRPr>
            </a:pPr>
            <a:r>
              <a:t>LIDERAZGO DE LA PRÁCTICA</a:t>
            </a:r>
          </a:p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Roberto Guido  —  Fundador e Ingeniero Principal</a:t>
            </a:r>
          </a:p>
          <a:p>
            <a:pPr>
              <a:defRPr sz="1150">
                <a:solidFill>
                  <a:srgbClr val="454337"/>
                </a:solidFill>
                <a:latin typeface="Helvetica Neue"/>
              </a:defRPr>
            </a:pPr>
            <a:r>
              <a:t>Ingeniero Eléctrico (UC San Diego)  ·  MBA (NYU Stern)</a:t>
            </a:r>
            <a:br/>
            <a:r>
              <a:t>Operando en San Diego, CA y Tijuana, MX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SERVICIOS Y CAPACIDADES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De la Ingeniería a los Resultados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Interfaces Personalizadas</a:t>
            </a:r>
          </a:p>
          <a:p>
            <a:pPr>
              <a:spcAft>
                <a:spcPts val="16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Aplicaciones web en React de alto rendimiento, diseñadas para la velocidad e intuición de tu equipo.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Desarrollo web en React y TypeScript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Diseño UX accesible y responsivo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Flujos directos de pedidos y pagos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99B26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Integración de Sistemas</a:t>
            </a:r>
          </a:p>
          <a:p>
            <a:pPr>
              <a:spcAft>
                <a:spcPts val="16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Integraciones financieras avanzadas, arquitectura de bases de datos y APIs empresariales.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Workday Finance y Adaptive Planning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Arquitectura en PostgreSQL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Pipelines de APIs REST y GraphQL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900" b="1">
                <a:solidFill>
                  <a:srgbClr val="16161A"/>
                </a:solidFill>
                <a:latin typeface="Helvetica Neue"/>
              </a:defRPr>
            </a:pPr>
            <a:r>
              <a:t>IA Aplicada y Automatización</a:t>
            </a:r>
          </a:p>
          <a:p>
            <a:pPr>
              <a:spcAft>
                <a:spcPts val="16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Servidores MCP personalizados y agentes de IA con supervisión humana.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Despliegue de servidores MCP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Orquestación de LLMs y extracción</a:t>
            </a:r>
          </a:p>
          <a:p>
            <a:pPr>
              <a:spcAft>
                <a:spcPts val="800"/>
              </a:spcAft>
              <a:defRPr sz="1200">
                <a:solidFill>
                  <a:srgbClr val="16161A"/>
                </a:solidFill>
                <a:latin typeface="Helvetica Neue"/>
              </a:defRPr>
            </a:pPr>
            <a:r>
              <a:t>•  Controles de seguridad humana (HITL)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AUDIENCIA OBJETIVO E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¿Quiénes se benefician más de nuestra práctica?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51572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ORGANIZACIONES OBJETIVO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Empresas Medianas (Mid-Market): </a:t>
            </a:r>
            <a:r>
              <a:rPr b="0">
                <a:solidFill>
                  <a:srgbClr val="454337"/>
                </a:solidFill>
              </a:rPr>
              <a:t>Organizaciones consolidadas que requieren conectar herramientas.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PyMEs en Aceleración: </a:t>
            </a:r>
            <a:r>
              <a:rPr b="0">
                <a:solidFill>
                  <a:srgbClr val="454337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Startups con VC: </a:t>
            </a:r>
            <a:r>
              <a:rPr b="0">
                <a:solidFill>
                  <a:srgbClr val="454337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Portafolio de PE / VC: </a:t>
            </a:r>
            <a:r>
              <a:rPr b="0">
                <a:solidFill>
                  <a:srgbClr val="454337"/>
                </a:solidFill>
              </a:rPr>
              <a:t>Empresas operativas optimizando eficiencia en su back-office.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51572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216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TOMADORES DE DECISIÓN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CTOs y VPs de Ingeniería: </a:t>
            </a:r>
            <a:r>
              <a:rPr b="0">
                <a:solidFill>
                  <a:srgbClr val="454337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CFOs y Directores de Finanzas: </a:t>
            </a:r>
            <a:r>
              <a:rPr b="0">
                <a:solidFill>
                  <a:srgbClr val="454337"/>
                </a:solidFill>
              </a:rPr>
              <a:t>Con cuellos de botella de datos en Workday/ERP y reportes.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VPs de Operaciones: </a:t>
            </a:r>
            <a:r>
              <a:rPr b="0">
                <a:solidFill>
                  <a:srgbClr val="454337"/>
                </a:solidFill>
              </a:rPr>
              <a:t>Buscando eliminar carga administrativa en documentos y procesos.</a:t>
            </a:r>
          </a:p>
          <a:p>
            <a:pPr>
              <a:spcAft>
                <a:spcPts val="1200"/>
              </a:spcAft>
              <a:defRPr b="1" sz="1300">
                <a:solidFill>
                  <a:srgbClr val="16161A"/>
                </a:solidFill>
                <a:latin typeface="Helvetica Neue"/>
              </a:defRPr>
            </a:pPr>
            <a:r>
              <a:t>•  Fundadores y Líderes de Producto: </a:t>
            </a:r>
            <a:r>
              <a:rPr b="0">
                <a:solidFill>
                  <a:srgbClr val="454337"/>
                </a:solidFill>
              </a:rPr>
              <a:t>Construyendo software web crítico para el negocio con plazos.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SEÑALES DE REFERENCIA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 01  ·  BACKENDS Y ERPS DESCONECTADOS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38100" cy="10972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9B26"/>
                </a:solidFill>
                <a:latin typeface="Helvetica Neue"/>
              </a:defRPr>
            </a:pPr>
            <a:r>
              <a:t>SEÑAL 02  ·  AMBICIÓN DE IA VS. SEGURIDAD EMPRESARIAL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2628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SEÑAL 03  ·  CUELLOS DE BOTELLA OPERATIVOS MANUALES</a:t>
            </a:r>
          </a:p>
          <a:p>
            <a:pPr>
              <a:defRPr sz="1400">
                <a:solidFill>
                  <a:srgbClr val="16161A"/>
                </a:solidFill>
                <a:latin typeface="Helvetica Neue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ARQUITECTURA PROBADA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Probado en Entornos Operativos Reales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INTEGRACIÓN EMPRESARIAL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IA DE VOZ (HARDWARE/SOFTWARE)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Usuarios reales hoy en nuestros productos.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Quienes presentan tu proyecto lo construyen.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Software funcional antes que diapositivas.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 b="1">
                <a:solidFill>
                  <a:srgbClr val="16161A"/>
                </a:solidFill>
                <a:latin typeface="Helvetica Neue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y automatizaciones: mismo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FILTROS DE DESCARTE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¿Quiénes NO son un buen perfil? (Cuida la Calidad)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PLANTILLAS O BAJO COSTO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Búsqueda de maquila offshore o tarifas por hora de bajo costo.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Sitios web básicos en WordPress o plantillas genéricas sin código.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presupuesto de ingeniería o sin intención de invertir en arquitectura.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Objetivos de negocio difusos sin métricas claras de resultado.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8816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PROYECTOS DE "FIEBRE DE IA" SIN ORDEN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Envoltorios superficiales de IA sin integración a backend o APIs reales.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Poca disposición para mantener orden de datos, seguridad o supervisión humana.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Expectativas de magia de IA sin diseño estructurado de procesos.</a:t>
            </a:r>
          </a:p>
          <a:p>
            <a:pPr>
              <a:spcAft>
                <a:spcPts val="10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Sin un experto interno del negocio para validar los resultados de la 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MODELOS DE 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Modelos Flexibles de Colaboración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2 A 4 SEMANAS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POR PROYECTO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RETAINER MENSUAL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 Neue"/>
              </a:defRPr>
            </a:pPr>
            <a:r>
              <a:t>Cómo Hacer la 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PLANTILLA RECOMENDADA PARA CORREO</a:t>
            </a:r>
          </a:p>
          <a:p>
            <a:pPr>
              <a:spcAft>
                <a:spcPts val="1000"/>
              </a:spcAft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920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