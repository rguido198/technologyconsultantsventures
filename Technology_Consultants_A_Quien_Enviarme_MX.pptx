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82296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SITIOS WEB  ·  AUTOMATIZACIÓN  ·  AGENTES IA    |    ● Proyectos activos · Q3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4300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6161A"/>
                </a:solidFill>
                <a:latin typeface="Helvetica Neue"/>
              </a:defRPr>
            </a:pPr>
            <a:r>
              <a:t>Desarrollamos tecnología alrededor de tu equipo — no para reemplazarlo.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107286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743200"/>
            <a:ext cx="101800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¿A QUIÉN ENVIARME?  —  GUÍA DE REFERENCIAS PARA SOCIOS</a:t>
            </a:r>
          </a:p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Desarrollamos software que elimina tareas repetitivas de tu equipo — desde aplicaciones web automatizadas hasta agentes de IA con supervisión humana en cada proceso clave.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2560320" cy="438912"/>
          </a:xfrm>
          <a:prstGeom prst="roundRect">
            <a:avLst/>
          </a:prstGeom>
          <a:solidFill>
            <a:srgbClr val="16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Helvetica Neue"/>
              </a:defRPr>
            </a:pPr>
            <a:r>
              <a:t>Agendar llamada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062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6161A"/>
                </a:solidFill>
                <a:latin typeface="Helvetica Neue"/>
              </a:defRPr>
            </a:pPr>
            <a:r>
              <a:t>Roberto Guido  |  Fundador e Ingeniero Principal  (Ing. Eléctrico UC San Diego · MBA NYU Stern)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En producción.</a:t>
            </a:r>
          </a:p>
          <a:p>
            <a:pPr>
              <a:defRPr sz="1100">
                <a:solidFill>
                  <a:srgbClr val="454337"/>
                </a:solidFill>
                <a:latin typeface="Helvetica Neue"/>
              </a:defRPr>
            </a:pPr>
            <a:r>
              <a:t>Usuarios reales hoy en nuestros productos.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489204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Equipo senior.</a:t>
            </a:r>
          </a:p>
          <a:p>
            <a:pPr>
              <a:defRPr sz="1100">
                <a:solidFill>
                  <a:srgbClr val="454337"/>
                </a:solidFill>
                <a:latin typeface="Helvetica Neue"/>
              </a:defRPr>
            </a:pPr>
            <a:r>
              <a:t>Quienes presentan tu proyecto lo construyen.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489204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Código primero.</a:t>
            </a:r>
          </a:p>
          <a:p>
            <a:pPr>
              <a:defRPr sz="1100">
                <a:solidFill>
                  <a:srgbClr val="454337"/>
                </a:solidFill>
                <a:latin typeface="Helvetica Neue"/>
              </a:defRPr>
            </a:pPr>
            <a:r>
              <a:t>Software funcional antes que diapositivas.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489204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Un solo equipo.</a:t>
            </a:r>
          </a:p>
          <a:p>
            <a:pPr>
              <a:defRPr sz="1100">
                <a:solidFill>
                  <a:srgbClr val="454337"/>
                </a:solidFill>
                <a:latin typeface="Helvetica Neue"/>
              </a:defRPr>
            </a:pPr>
            <a:r>
              <a:t>Interfaces y automatizaciones: mismo stack.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SERVICIOS Y CAPACIDADES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De la Ingeniería a los Resultados de Negocio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240279"/>
            <a:ext cx="268833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B59D9"/>
                </a:solidFill>
                <a:latin typeface="Helvetica Neue"/>
              </a:defRPr>
            </a:pPr>
            <a:r>
              <a:t>01</a:t>
            </a:r>
          </a:p>
          <a:p>
            <a:pPr>
              <a:spcAft>
                <a:spcPts val="14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Interfaces Personalizadas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Interfaces web en React de alto rendimiento, diseñadas para la velocidad e intuición de tu equipo en sus tareas diarias.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240279"/>
            <a:ext cx="268833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B59D9"/>
                </a:solidFill>
                <a:latin typeface="Helvetica Neue"/>
              </a:defRPr>
            </a:pPr>
            <a:r>
              <a:t>02</a:t>
            </a:r>
          </a:p>
          <a:p>
            <a:pPr>
              <a:spcAft>
                <a:spcPts val="14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Integración de Sistemas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Integraciones financieras avanzadas (Workday Finance y Adaptive Planning), bases de datos PostgreSQL y APIs empresariales.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240279"/>
            <a:ext cx="268833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B59D9"/>
                </a:solidFill>
                <a:latin typeface="Helvetica Neue"/>
              </a:defRPr>
            </a:pPr>
            <a:r>
              <a:t>03</a:t>
            </a:r>
          </a:p>
          <a:p>
            <a:pPr>
              <a:spcAft>
                <a:spcPts val="14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IA Aplicada y Automatización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Servidores MCP personalizados, flujos con LLMs y agentes de IA con supervisión humana (HITL) para absoluta seguridad operativa.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AUDIENCIA OBJETIVO E ICP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¿Quiénes se benefician más de nuestra práctica?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51572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94559"/>
            <a:ext cx="46085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ORGANIZACIONES OBJETIVO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Empresas Medianas (Mid-Market): </a:t>
            </a:r>
            <a:r>
              <a:rPr b="0">
                <a:solidFill>
                  <a:srgbClr val="454337"/>
                </a:solidFill>
              </a:rPr>
              <a:t>Organizaciones consolidadas que requieren conectar herramientas.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PyMEs en Aceleración: </a:t>
            </a:r>
            <a:r>
              <a:rPr b="0">
                <a:solidFill>
                  <a:srgbClr val="454337"/>
                </a:solidFill>
              </a:rPr>
              <a:t>Equipos en crecimiento superando hojas de cálculo y SaaS aislados.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Startups con VC: </a:t>
            </a:r>
            <a:r>
              <a:rPr b="0">
                <a:solidFill>
                  <a:srgbClr val="454337"/>
                </a:solidFill>
              </a:rPr>
              <a:t>Equipos que requieren arquitectura ágil y ejecución técnica veloz.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Portafolio de PE / VC: </a:t>
            </a:r>
            <a:r>
              <a:rPr b="0">
                <a:solidFill>
                  <a:srgbClr val="454337"/>
                </a:solidFill>
              </a:rPr>
              <a:t>Empresas operativas optimizando eficiencia en su back-office.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874519"/>
            <a:ext cx="51572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4536" y="2194559"/>
            <a:ext cx="46085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TOMADORES DE DECISIÓN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CTOs y VPs de Ingeniería: </a:t>
            </a:r>
            <a:r>
              <a:rPr b="0">
                <a:solidFill>
                  <a:srgbClr val="454337"/>
                </a:solidFill>
              </a:rPr>
              <a:t>Buscando delegar desarrollo especializado de integración y agentes.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CFOs y Directores de Finanzas: </a:t>
            </a:r>
            <a:r>
              <a:rPr b="0">
                <a:solidFill>
                  <a:srgbClr val="454337"/>
                </a:solidFill>
              </a:rPr>
              <a:t>Con cuellos de botella de datos en Workday/ERP y reportes.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VPs de Operaciones: </a:t>
            </a:r>
            <a:r>
              <a:rPr b="0">
                <a:solidFill>
                  <a:srgbClr val="454337"/>
                </a:solidFill>
              </a:rPr>
              <a:t>Buscando eliminar carga administrativa en documentos y procesos.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Fundadores y Líderes de Producto: </a:t>
            </a:r>
            <a:r>
              <a:rPr b="0">
                <a:solidFill>
                  <a:srgbClr val="454337"/>
                </a:solidFill>
              </a:rPr>
              <a:t>Construyendo software web crítico para el negocio con plazos.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SEÑALES DE REFERENCIA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Lo que dicen los clientes justo antes de necesitar nuestro apoyo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011679"/>
            <a:ext cx="10180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SEÑAL 01  ·  BACKENDS Y ERPS DESCONECTADOS</a:t>
            </a:r>
          </a:p>
          <a:p>
            <a:pPr>
              <a:defRPr sz="1400">
                <a:solidFill>
                  <a:srgbClr val="16161A"/>
                </a:solidFill>
                <a:latin typeface="Helvetica Neue"/>
              </a:defRPr>
            </a:pPr>
            <a:r>
              <a:t>“Nuestros sistemas de finanzas (Workday/ERP/PostgreSQL) no se conectan de manera fluida con nuestras herramientas web o flujos de IA.”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91839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28999"/>
            <a:ext cx="10180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SEÑAL 02  ·  AMBICIÓN DE IA VS. SEGURIDAD EMPRESARIAL</a:t>
            </a:r>
          </a:p>
          <a:p>
            <a:pPr>
              <a:defRPr sz="1400">
                <a:solidFill>
                  <a:srgbClr val="16161A"/>
                </a:solidFill>
                <a:latin typeface="Helvetica Neue"/>
              </a:defRPr>
            </a:pPr>
            <a:r>
              <a:t>“Queremos aprovechar agentes de IA y LLMs, pero necesitamos controles estrictos de seguridad, permisos y validación humana (HITL).”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10180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SEÑAL 03  ·  CUELLOS DE BOTELLA OPERATIVOS MANUALES</a:t>
            </a:r>
          </a:p>
          <a:p>
            <a:pPr>
              <a:defRPr sz="1400">
                <a:solidFill>
                  <a:srgbClr val="16161A"/>
                </a:solidFill>
                <a:latin typeface="Helvetica Neue"/>
              </a:defRPr>
            </a:pPr>
            <a:r>
              <a:t>“Nuestro equipo operativo pierde horas procesando facturas, reconciliando registros financieros o ejecutando tareas manuales repetitivas.”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ARQUITECTURA PROBADA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Probado en Entornos Operativos Reales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3328416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03120"/>
            <a:ext cx="26883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INTEGRACIÓN EMPRESARIAL</a:t>
            </a:r>
          </a:p>
          <a:p>
            <a:pPr>
              <a:spcAft>
                <a:spcPts val="12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Workday Finance MCP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Servidores de Protocolo de Contexto de Modelo (MCP) que conectan Workday Finance y Adaptive directamente con flujos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874519"/>
            <a:ext cx="3328416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103120"/>
            <a:ext cx="26883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IA DE VOZ (HARDWARE/SOFTWARE)</a:t>
            </a:r>
          </a:p>
          <a:p>
            <a:pPr>
              <a:spcAft>
                <a:spcPts val="12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Encounter AI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Diseño de IA de voz para pedidos en drive-thru y kioscos. Respaldado por Morgan Stanley Inclusive Ventures Lab.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874519"/>
            <a:ext cx="3328416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103120"/>
            <a:ext cx="26883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Appt Helper · Open Cita · Border Bills</a:t>
            </a:r>
          </a:p>
          <a:p>
            <a:pPr>
              <a:spcAft>
                <a:spcPts val="12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In-House Products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Desarrollamos productos propios para validar la arquitectura, escalabilidad y operación antes de ofrecerlos a clientes.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30368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En producción.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Usuarios reales hoy en nuestros productos.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5230368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Equipo senior.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Quienes presentan tu proyecto lo construyen.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5230368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Código primero.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Software funcional antes que diapositivas.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5230368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Un solo equipo.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Interfaces y automatizaciones: mismo stack.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FILTROS DE DESCARTE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¿Quiénes NO son un buen perfil? (Cuida la Calidad)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51572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94559"/>
            <a:ext cx="46085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PROYECTOS DE PLANTILLAS O BAJO COSTO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Búsqueda de maquila offshore o tarifas por hora de bajo costo.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Sitios web básicos en WordPress o plantillas genéricas sin código.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Sin presupuesto de ingeniería o sin intención de invertir en arquitectura.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Objetivos de negocio difusos sin métricas claras de resultado.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874519"/>
            <a:ext cx="51572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4536" y="2194559"/>
            <a:ext cx="46085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PROYECTOS DE "FIEBRE DE IA" SIN ORDEN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Envoltorios superficiales de IA sin integración a backend o APIs reales.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Poca disposición para mantener orden de datos, seguridad o supervisión humana.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Expectativas de magia de IA sin diseño estructurado de procesos.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 Neue"/>
              </a:defRPr>
            </a:pPr>
            <a:r>
              <a:t>✕ Sin un experto interno del negocio para validar los resultados de la 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MODELOS DE COLABORACIÓN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Modelos Flexibles de Colaboración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94560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2 A 4 SEMANAS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1. Proof-of-Concept Sprint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Validación inicial de bajo riesgo para construir un prototipo funcional, probar integración de APIs (Workday/MCP) y confirmar factibilidad.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194560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POR PROYECTO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2. Full Implementation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Desarrollo integral de software web en React, arquitectura backend de integración, flujos de automatización de IA y producción.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194560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RETAINER MENSUAL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3. Strategic Advisory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Liderazgo técnico continuo, revisión de arquitectura de sistemas, hoja de ruta de adopción de IA y acompañamiento técnico.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10896" cy="310896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10896" cy="31089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82880"/>
            <a:ext cx="47548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C8CDD7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28016"/>
            <a:ext cx="137160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164592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PRÓXIMOS PASOS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51560"/>
            <a:ext cx="1072865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Cómo Hacer la Introducción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10728655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057400"/>
            <a:ext cx="1018001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PLANTILLA RECOMENDADA PARA CORREO:</a:t>
            </a:r>
          </a:p>
          <a:p>
            <a:pPr>
              <a:spcAft>
                <a:spcPts val="800"/>
              </a:spcAft>
              <a:defRPr sz="1500">
                <a:solidFill>
                  <a:srgbClr val="16161A"/>
                </a:solidFill>
                <a:latin typeface="Helvetica Neue"/>
              </a:defRPr>
            </a:pPr>
            <a:r>
              <a:t>“Hola [Nombre] — Me gustaría presentarte a Roberto Guido, Fundador e Ingeniero Principal en Technology Consultants.</a:t>
            </a:r>
          </a:p>
          <a:p>
            <a:pPr>
              <a:defRPr sz="1500">
                <a:solidFill>
                  <a:srgbClr val="16161A"/>
                </a:solidFill>
                <a:latin typeface="Helvetica Neue"/>
              </a:defRPr>
            </a:pPr>
            <a:r>
              <a:t>Ellos desarrollan tecnología alrededor de tu equipo — conectando interfaces web a la medida con sistemas backend complejos (como Workday Finance) y automatizaciones seguras de IA con supervisión humana. Dado lo que comentaste sobre [punto de dolor], creo que sería muy valioso que conversen.”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300">
                <a:solidFill>
                  <a:srgbClr val="2B59D9"/>
                </a:solidFill>
                <a:latin typeface="Helvetica Neue"/>
              </a:defRPr>
            </a:pPr>
            <a:r>
              <a:t>Sitio web: technologyconsultants.ventures   ·   San Diego y Tijuana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Helvetica Neue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