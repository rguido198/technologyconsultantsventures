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5669280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04088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SITIOS WEB  ·  AUTOMATIZACIÓN  ·  AGENTES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D99B26"/>
                </a:solidFill>
                <a:latin typeface="Helvetica"/>
              </a:defRPr>
            </a:pPr>
            <a:r>
              <a:t>Technology Consultants</a:t>
            </a:r>
          </a:p>
          <a:p>
            <a:pPr>
              <a:spcAft>
                <a:spcPts val="1400"/>
              </a:spcAft>
              <a:defRPr sz="4400" b="1">
                <a:solidFill>
                  <a:srgbClr val="16161A"/>
                </a:solidFill>
                <a:latin typeface="Helvetica"/>
              </a:defRPr>
            </a:pPr>
            <a:r>
              <a:t>¿A quién enviarme?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26080"/>
            <a:ext cx="1054577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06324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6161A"/>
                </a:solidFill>
                <a:latin typeface="Helvetica"/>
              </a:defRPr>
            </a:pPr>
            <a:r>
              <a:t>“Desarrollamos tecnología alrededor de tu equipo — no para </a:t>
            </a:r>
            <a:r>
              <a:rPr i="1" b="1"/>
              <a:t>reemplazarlo</a:t>
            </a:r>
            <a:r>
              <a:t>.”</a:t>
            </a:r>
          </a:p>
          <a:p>
            <a:pPr>
              <a:spcBef>
                <a:spcPts val="600"/>
              </a:spcBef>
              <a:defRPr sz="1400">
                <a:solidFill>
                  <a:srgbClr val="59564D"/>
                </a:solidFill>
                <a:latin typeface="Helvetica"/>
              </a:defRPr>
            </a:pPr>
            <a:r>
              <a:t>Software operativo real con supervisión humana en cada proceso crítico donde el dinero, la confianza o el criterio importan.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LÍDER DE PRÁCTICA</a:t>
            </a:r>
          </a:p>
          <a:p>
            <a:pPr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Roberto Guido</a:t>
            </a:r>
          </a:p>
          <a:p>
            <a:pPr>
              <a:spcBef>
                <a:spcPts val="200"/>
              </a:spcBef>
              <a:defRPr sz="1400">
                <a:solidFill>
                  <a:srgbClr val="59564D"/>
                </a:solidFill>
                <a:latin typeface="Helvetica"/>
              </a:defRPr>
            </a:pPr>
            <a:r>
              <a:t>Fundador e Ingeniero Principal  ·  Ingeniero Eléctrico (UC San Diego) · MBA (NYU Stern)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RESUMEN DE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De la Ingeniería a los Resultados de Negocio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240279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2B59D9"/>
                </a:solidFill>
                <a:latin typeface="Courier New"/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Interfaces Personalizadas</a:t>
            </a:r>
          </a:p>
          <a:p>
            <a:pPr>
              <a:defRPr sz="1400">
                <a:solidFill>
                  <a:srgbClr val="59564D"/>
                </a:solidFill>
                <a:latin typeface="Helvetica"/>
              </a:defRPr>
            </a:pPr>
            <a:r>
              <a:t>Interfaces web personalizadas en React de alto rendimiento, diseñadas para la velocidad e intuición de tu equipo operativo.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45736" y="2240279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2B59D9"/>
                </a:solidFill>
                <a:latin typeface="Courier New"/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Integración de Sistemas</a:t>
            </a:r>
          </a:p>
          <a:p>
            <a:pPr>
              <a:defRPr sz="1400">
                <a:solidFill>
                  <a:srgbClr val="59564D"/>
                </a:solidFill>
                <a:latin typeface="Helvetica"/>
              </a:defRPr>
            </a:pPr>
            <a:r>
              <a:t>Integraciones financieras avanzadas (Workday Finance y Adaptive Planning), bases de datos PostgreSQL y APIs empresariales.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2240279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2B59D9"/>
                </a:solidFill>
                <a:latin typeface="Courier New"/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2000" b="1">
                <a:solidFill>
                  <a:srgbClr val="16161A"/>
                </a:solidFill>
                <a:latin typeface="Helvetica"/>
              </a:defRPr>
            </a:pPr>
            <a:r>
              <a:t>IA Aplicada y Automatización</a:t>
            </a:r>
          </a:p>
          <a:p>
            <a:pPr>
              <a:defRPr sz="1400">
                <a:solidFill>
                  <a:srgbClr val="59564D"/>
                </a:solidFill>
                <a:latin typeface="Helvetica"/>
              </a:defRPr>
            </a:pPr>
            <a:r>
              <a:t>Servidores MCP personalizados, flujos con LLMs y agentes de IA con supervisión humana (HITL) para absoluta seguridad operativa.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AUDIENCIA OBJETIVO E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¿Quiénes se benefician más de nuestra práctica?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59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ORGANIZACIONES OBJETIVO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Empresas Medianas (Mid-Market): </a:t>
            </a:r>
            <a:r>
              <a:rPr b="0">
                <a:solidFill>
                  <a:srgbClr val="59564D"/>
                </a:solidFill>
              </a:rPr>
              <a:t>Organizaciones consolidadas que requieren conectar herramientas.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PyMEs en Aceleración: </a:t>
            </a:r>
            <a:r>
              <a:rPr b="0">
                <a:solidFill>
                  <a:srgbClr val="59564D"/>
                </a:solidFill>
              </a:rPr>
              <a:t>Equipos en crecimiento superando hojas de cálculo y SaaS aislados.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Startups con VC: </a:t>
            </a:r>
            <a:r>
              <a:rPr b="0">
                <a:solidFill>
                  <a:srgbClr val="59564D"/>
                </a:solidFill>
              </a:rPr>
              <a:t>Equipos que requieren arquitectura ágil y ejecución técnica veloz.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Portafolio de PE / VC: </a:t>
            </a:r>
            <a:r>
              <a:rPr b="0">
                <a:solidFill>
                  <a:srgbClr val="59564D"/>
                </a:solidFill>
              </a:rPr>
              <a:t>Empresas operativas optimizando eficiencia en su back-office.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874519"/>
            <a:ext cx="512064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59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TOMADORES DE DECISIÓN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CTOs y VPs de Ingeniería: </a:t>
            </a:r>
            <a:r>
              <a:rPr b="0">
                <a:solidFill>
                  <a:srgbClr val="59564D"/>
                </a:solidFill>
              </a:rPr>
              <a:t>Buscando delegar desarrollo especializado de integración y agentes.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CFOs y Directores de Finanzas: </a:t>
            </a:r>
            <a:r>
              <a:rPr b="0">
                <a:solidFill>
                  <a:srgbClr val="59564D"/>
                </a:solidFill>
              </a:rPr>
              <a:t>Con cuellos de botella de datos en Workday/ERP y reportes.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VPs of Operations: </a:t>
            </a:r>
            <a:r>
              <a:rPr b="0">
                <a:solidFill>
                  <a:srgbClr val="59564D"/>
                </a:solidFill>
              </a:rPr>
              <a:t>Buscando eliminar carga administrativa en documentos y procesos.</a:t>
            </a:r>
          </a:p>
          <a:p>
            <a:pPr>
              <a:spcAft>
                <a:spcPts val="1000"/>
              </a:spcAft>
              <a:defRPr b="1" sz="1300">
                <a:solidFill>
                  <a:srgbClr val="16161A"/>
                </a:solidFill>
                <a:latin typeface="Helvetica"/>
              </a:defRPr>
            </a:pPr>
            <a:r>
              <a:t>• Fundadores y Líderes de Producto: </a:t>
            </a:r>
            <a:r>
              <a:rPr b="0">
                <a:solidFill>
                  <a:srgbClr val="59564D"/>
                </a:solidFill>
              </a:rPr>
              <a:t>Construyendo software web crítico para el negocio con plazos.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SEÑALES DE REFERENCIA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Lo que dicen los clientes justo antes de necesitar nuestro apoyo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54577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79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01 / BACKENDS Y ERPS DESCONECTADOS</a:t>
            </a:r>
          </a:p>
          <a:p>
            <a:pPr>
              <a:defRPr sz="1400" i="1">
                <a:solidFill>
                  <a:srgbClr val="16161A"/>
                </a:solidFill>
                <a:latin typeface="Helvetica"/>
              </a:defRPr>
            </a:pPr>
            <a:r>
              <a:t>“Nuestros sistemas de finanzas (Workday/ERP/PostgreSQL) no se conectan de manera fluida con nuestras herramientas web o flujos de IA.”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39"/>
            <a:ext cx="1054577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428999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02 / AMBICIÓN DE IA VS. SEGURIDAD EMPRESARIAL</a:t>
            </a:r>
          </a:p>
          <a:p>
            <a:pPr>
              <a:defRPr sz="1400" i="1">
                <a:solidFill>
                  <a:srgbClr val="16161A"/>
                </a:solidFill>
                <a:latin typeface="Helvetica"/>
              </a:defRPr>
            </a:pPr>
            <a:r>
              <a:t>“Queremos aprovechar agentes de IA y LLMs, pero necesitamos controles estrictos de seguridad, permisos y validación humana (HITL).”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709160"/>
            <a:ext cx="1054577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84632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03 / CUELLOS DE BOTELLA OPERATIVOS MANUALES</a:t>
            </a:r>
          </a:p>
          <a:p>
            <a:pPr>
              <a:defRPr sz="1400" i="1">
                <a:solidFill>
                  <a:srgbClr val="16161A"/>
                </a:solidFill>
                <a:latin typeface="Helvetica"/>
              </a:defRPr>
            </a:pPr>
            <a:r>
              <a:t>“Nuestro equipo operativo pierde horas procesando facturas, reconciliando registros financieros o ejecutando tareas manuales repetitivas.”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ARQUITECTURA PROBADA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Probado en Entornos Operativos Reales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3328416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INTEGRACIÓN EMPRESARIAL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Servidores de Protocolo de Contexto de Modelo (MCP) que conectan Workday Finance y Adaptive directamente con flujos de 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74519"/>
            <a:ext cx="3328416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45736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IA DE VOZ (HARDWARE/SOFTWARE)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Encounter AI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Diseño de IA de voz para pedidos en drive-thru y kioscos. Respaldado por Morgan Stanley Inclusive Ventures Lab.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874519"/>
            <a:ext cx="3328416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2103120"/>
            <a:ext cx="268833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In-House Products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Desarrollamos productos propios para validar la arquitectura, escalabilidad y operación antes de ofrecerlos a clientes.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En producción.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Usuarios reales hoy en nuestros productos.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Equipo senior.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Quienes presentan tu proyecto son quienes lo construyen.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Código primero.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Software funcional antes que diapositivas.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5212080"/>
            <a:ext cx="24688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5257800"/>
            <a:ext cx="2194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1">
                <a:solidFill>
                  <a:srgbClr val="16161A"/>
                </a:solidFill>
                <a:latin typeface="Helvetica"/>
              </a:defRPr>
            </a:pPr>
            <a:r>
              <a:t>Un solo equipo.</a:t>
            </a:r>
          </a:p>
          <a:p>
            <a:pPr>
              <a:spcBef>
                <a:spcPts val="200"/>
              </a:spcBef>
              <a:defRPr sz="1000">
                <a:solidFill>
                  <a:srgbClr val="59564D"/>
                </a:solidFill>
                <a:latin typeface="Helvetica"/>
              </a:defRPr>
            </a:pPr>
            <a:r>
              <a:t>Interfaces y automatizaciones: mismo stack.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FILTROS DE DESCARTE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¿Quiénes NO son un buen perfil? (Cuida la Calidad)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57216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59"/>
            <a:ext cx="46085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Courier New"/>
              </a:defRPr>
            </a:pPr>
            <a:r>
              <a:t>❌  PROYECTOS DE PLANTILLAS O BAJO COSTO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Búsqueda de maquila offshore o tarifas por hora de bajo costo.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Sitios web básicos en WordPress o plantillas genéricas sin código.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Sin presupuesto de ingeniería o sin intención de invertir en arquitectura.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Objetivos de negocio difusos sin métricas claras de resultado.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874519"/>
            <a:ext cx="5157216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2415" y="2194559"/>
            <a:ext cx="46085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Courier New"/>
              </a:defRPr>
            </a:pPr>
            <a:r>
              <a:t>❌  PROYECTOS DE "FIEBRE DE IA" SIN ORDEN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Envoltorios superficiales de IA sin integración a backend o APIs reales.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Poca disposición para mantener orden de datos, seguridad o supervisión humana.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Expectativas de magia de IA sin diseño estructurado de procesos.</a:t>
            </a:r>
          </a:p>
          <a:p>
            <a:pPr>
              <a:spcAft>
                <a:spcPts val="800"/>
              </a:spcAft>
              <a:defRPr sz="1300">
                <a:solidFill>
                  <a:srgbClr val="59564D"/>
                </a:solidFill>
                <a:latin typeface="Helvetica"/>
              </a:defRPr>
            </a:pPr>
            <a:r>
              <a:t>✕ Sin un experto interno del negocio para validar los resultados de la 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MODELOS DE COLABORACIÓN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Modelos Flexibles de Colaboración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[ 2 A 4 SEMANAS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Validación inicial de bajo riesgo para construir un prototipo funcional, probar integración de APIs (Workday/MCP) y confirmar factibilidad.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45736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POR PROYECTO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Desarrollo integral de software web en React, arquitectura backend de integración, flujos de automatización de IA y producción.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874519"/>
            <a:ext cx="332841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8471" y="2194560"/>
            <a:ext cx="268833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RETAINER MENSUAL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59564D"/>
                </a:solidFill>
                <a:latin typeface="Helvetica"/>
              </a:defRPr>
            </a:pPr>
            <a:r>
              <a:t>Liderazgo técnico continuo, revisión de arquitectura de sistemas, hoja de ruta de adopción de IA y acompañamiento técnico.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6161A"/>
                </a:solidFill>
                <a:latin typeface="Helvetica"/>
              </a:defRPr>
            </a:pPr>
            <a:r>
              <a:t>Cómo Hacer la Introducción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545775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99669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PLANTILLA RECOMENDADA PARA CORREO:</a:t>
            </a:r>
          </a:p>
          <a:p>
            <a:pPr>
              <a:spcAft>
                <a:spcPts val="800"/>
              </a:spcAft>
              <a:defRPr sz="1500" i="1">
                <a:solidFill>
                  <a:srgbClr val="16161A"/>
                </a:solidFill>
                <a:latin typeface="Helvetica"/>
              </a:defRPr>
            </a:pPr>
            <a:r>
              <a:t>“Hola [Nombre] — Me gustaría presentarte a Roberto Guido, Fundador e Ingeniero Principal en Technology Consultants.</a:t>
            </a:r>
          </a:p>
          <a:p>
            <a:pPr>
              <a:defRPr sz="1500" i="1">
                <a:solidFill>
                  <a:srgbClr val="16161A"/>
                </a:solidFill>
                <a:latin typeface="Helvetica"/>
              </a:defRPr>
            </a:pPr>
            <a:r>
              <a:t>Ellos desarrollan tecnología alrededor de tu equipo — conectando interfaces web a la medida con sistemas backend complejos (como Workday Finance) y automatizaciones seguras de IA con supervisión humana. Dado lo que comentaste sobre [punto de dolor], creo que sería muy valioso que conversen.”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Courier New"/>
              </a:defRPr>
            </a:pPr>
            <a:r>
              <a:t>Sitio web: technologyconsultants.ventures   ·   San Diego y Tijuana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309360"/>
            <a:ext cx="10545775" cy="12700"/>
          </a:xfrm>
          <a:prstGeom prst="rect">
            <a:avLst/>
          </a:prstGeom>
          <a:solidFill>
            <a:srgbClr val="EBE7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82512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7C786C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39935" y="6382512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7C786C"/>
                </a:solidFill>
                <a:latin typeface="Courier New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