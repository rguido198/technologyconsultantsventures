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2011680"/>
            <a:ext cx="109728" cy="2926080"/>
          </a:xfrm>
          <a:prstGeom prst="rect">
            <a:avLst/>
          </a:prstGeom>
          <a:solidFill>
            <a:srgbClr val="D99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92024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D99B26"/>
                </a:solidFill>
              </a:defRPr>
            </a:pPr>
            <a:r>
              <a:t>TECHNOLOGY CONSULTANTS</a:t>
            </a:r>
          </a:p>
          <a:p>
            <a:pPr>
              <a:spcBef>
                <a:spcPts val="1000"/>
              </a:spcBef>
              <a:spcAft>
                <a:spcPts val="1500"/>
              </a:spcAft>
              <a:defRPr sz="4400" b="1">
                <a:solidFill>
                  <a:srgbClr val="FFFFFF"/>
                </a:solidFill>
              </a:defRPr>
            </a:pPr>
            <a:r>
              <a:t>¿A quién enviarme?</a:t>
            </a:r>
          </a:p>
          <a:p>
            <a:pPr>
              <a:defRPr sz="2000">
                <a:solidFill>
                  <a:srgbClr val="B4B4BE"/>
                </a:solidFill>
              </a:defRPr>
            </a:pPr>
            <a:r>
              <a:t>Guía de Referencias para Socios y Perfil de Cliente Ideal</a:t>
            </a:r>
          </a:p>
          <a:p>
            <a:pPr>
              <a:spcBef>
                <a:spcPts val="3000"/>
              </a:spcBef>
              <a:defRPr sz="1300">
                <a:solidFill>
                  <a:srgbClr val="FFFFFF"/>
                </a:solidFill>
              </a:defRPr>
            </a:pPr>
            <a:r>
              <a:t>Roberto Guido  |  Fundador e Ingeniero Principal  |  Ing. Eléctrico (UC San Diego) · MBA (NYU Stern)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B59D9"/>
                </a:solidFill>
              </a:defRPr>
            </a:pPr>
            <a:r>
              <a:t>RESUMEN DE PRÁCTICA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6161A"/>
                </a:solidFill>
              </a:defRPr>
            </a:pPr>
            <a:r>
              <a:t>De la Ingeniería a los Resultados de Negocio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328416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C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3328416" cy="109728"/>
          </a:xfrm>
          <a:prstGeom prst="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94560"/>
            <a:ext cx="277977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800" b="1">
                <a:solidFill>
                  <a:srgbClr val="2B59D9"/>
                </a:solidFill>
              </a:defRPr>
            </a:pPr>
            <a:r>
              <a:t>01</a:t>
            </a:r>
          </a:p>
          <a:p>
            <a:pPr>
              <a:spcAft>
                <a:spcPts val="1400"/>
              </a:spcAft>
              <a:defRPr sz="2000" b="1">
                <a:solidFill>
                  <a:srgbClr val="16161A"/>
                </a:solidFill>
              </a:defRPr>
            </a:pPr>
            <a:r>
              <a:t>Interfaces Personalizadas</a:t>
            </a:r>
          </a:p>
          <a:p>
            <a:pPr>
              <a:defRPr sz="1400">
                <a:solidFill>
                  <a:srgbClr val="454337"/>
                </a:solidFill>
              </a:defRPr>
            </a:pPr>
            <a:r>
              <a:t>Aplicaciones web en React de alto rendimiento e interfaces intuitivas diseñadas para una ejecución ágil.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828800"/>
            <a:ext cx="3328416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C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97680" y="1828800"/>
            <a:ext cx="3328416" cy="109728"/>
          </a:xfrm>
          <a:prstGeom prst="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277977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800" b="1">
                <a:solidFill>
                  <a:srgbClr val="2B59D9"/>
                </a:solidFill>
              </a:defRPr>
            </a:pPr>
            <a:r>
              <a:t>02</a:t>
            </a:r>
          </a:p>
          <a:p>
            <a:pPr>
              <a:spcAft>
                <a:spcPts val="1400"/>
              </a:spcAft>
              <a:defRPr sz="2000" b="1">
                <a:solidFill>
                  <a:srgbClr val="16161A"/>
                </a:solidFill>
              </a:defRPr>
            </a:pPr>
            <a:r>
              <a:t>Integración de Sistemas</a:t>
            </a:r>
          </a:p>
          <a:p>
            <a:pPr>
              <a:defRPr sz="1400">
                <a:solidFill>
                  <a:srgbClr val="454337"/>
                </a:solidFill>
              </a:defRPr>
            </a:pPr>
            <a:r>
              <a:t>Integraciones financieras avanzadas (Workday Finance y Adaptive Planning), bases de datos PostgreSQL y APIs empresariales.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1828800"/>
            <a:ext cx="3328416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C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63840" y="1828800"/>
            <a:ext cx="3328416" cy="109728"/>
          </a:xfrm>
          <a:prstGeom prst="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2194560"/>
            <a:ext cx="277977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800" b="1">
                <a:solidFill>
                  <a:srgbClr val="2B59D9"/>
                </a:solidFill>
              </a:defRPr>
            </a:pPr>
            <a:r>
              <a:t>03</a:t>
            </a:r>
          </a:p>
          <a:p>
            <a:pPr>
              <a:spcAft>
                <a:spcPts val="1400"/>
              </a:spcAft>
              <a:defRPr sz="2000" b="1">
                <a:solidFill>
                  <a:srgbClr val="16161A"/>
                </a:solidFill>
              </a:defRPr>
            </a:pPr>
            <a:r>
              <a:t>IA Aplicada y Automatización</a:t>
            </a:r>
          </a:p>
          <a:p>
            <a:pPr>
              <a:defRPr sz="1400">
                <a:solidFill>
                  <a:srgbClr val="454337"/>
                </a:solidFill>
              </a:defRPr>
            </a:pPr>
            <a:r>
              <a:t>Servidores MCP personalizados, flujos con LLMs y agentes de IA con supervisión humana (HITL) para seguridad operativa real.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B59D9"/>
                </a:solidFill>
              </a:defRPr>
            </a:pPr>
            <a:r>
              <a:t>AUDIENCIA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6161A"/>
                </a:solidFill>
              </a:defRPr>
            </a:pPr>
            <a:r>
              <a:t>¿Quién se beneficia más de nuestra práctica?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16636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C9C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03120"/>
            <a:ext cx="46177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2B59D9"/>
                </a:solidFill>
              </a:defRPr>
            </a:pPr>
            <a:r>
              <a:t>Empresas Objetivo</a:t>
            </a:r>
          </a:p>
          <a:p>
            <a:pPr>
              <a:spcAft>
                <a:spcPts val="1000"/>
              </a:spcAft>
              <a:defRPr b="1" sz="1300">
                <a:solidFill>
                  <a:srgbClr val="16161A"/>
                </a:solidFill>
              </a:defRPr>
            </a:pPr>
            <a:r>
              <a:t>•  Empresas Medianas (Mid-Market): </a:t>
            </a:r>
            <a:r>
              <a:rPr b="0">
                <a:solidFill>
                  <a:srgbClr val="454337"/>
                </a:solidFill>
              </a:rPr>
              <a:t>Organizaciones consolidadas que requieren conectar herramientas personalizadas.</a:t>
            </a:r>
          </a:p>
          <a:p>
            <a:pPr>
              <a:spcAft>
                <a:spcPts val="1000"/>
              </a:spcAft>
              <a:defRPr b="1" sz="1300">
                <a:solidFill>
                  <a:srgbClr val="16161A"/>
                </a:solidFill>
              </a:defRPr>
            </a:pPr>
            <a:r>
              <a:t>•  PyMEs en Aceleración: </a:t>
            </a:r>
            <a:r>
              <a:rPr b="0">
                <a:solidFill>
                  <a:srgbClr val="454337"/>
                </a:solidFill>
              </a:rPr>
              <a:t>Equipos en crecimiento superando hojas de cálculo y SaaS desconectados.</a:t>
            </a:r>
          </a:p>
          <a:p>
            <a:pPr>
              <a:spcAft>
                <a:spcPts val="1000"/>
              </a:spcAft>
              <a:defRPr b="1" sz="1300">
                <a:solidFill>
                  <a:srgbClr val="16161A"/>
                </a:solidFill>
              </a:defRPr>
            </a:pPr>
            <a:r>
              <a:t>•  Startups con VC: </a:t>
            </a:r>
            <a:r>
              <a:rPr b="0">
                <a:solidFill>
                  <a:srgbClr val="454337"/>
                </a:solidFill>
              </a:rPr>
              <a:t>Equipos que requieren arquitectura ágil y ejecución técnica veloz.</a:t>
            </a:r>
          </a:p>
          <a:p>
            <a:pPr>
              <a:spcAft>
                <a:spcPts val="1000"/>
              </a:spcAft>
              <a:defRPr b="1" sz="1300">
                <a:solidFill>
                  <a:srgbClr val="16161A"/>
                </a:solidFill>
              </a:defRPr>
            </a:pPr>
            <a:r>
              <a:t>•  Portafolio de PE / VC: </a:t>
            </a:r>
            <a:r>
              <a:rPr b="0">
                <a:solidFill>
                  <a:srgbClr val="454337"/>
                </a:solidFill>
              </a:rPr>
              <a:t>Empresas operativas optimizando eficiencia en su back-office.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828800"/>
            <a:ext cx="516636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C9C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60" y="2103120"/>
            <a:ext cx="46177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D99B26"/>
                </a:solidFill>
              </a:defRPr>
            </a:pPr>
            <a:r>
              <a:t>Tomadores de Decisión</a:t>
            </a:r>
          </a:p>
          <a:p>
            <a:pPr>
              <a:spcAft>
                <a:spcPts val="1000"/>
              </a:spcAft>
              <a:defRPr b="1" sz="1300">
                <a:solidFill>
                  <a:srgbClr val="16161A"/>
                </a:solidFill>
              </a:defRPr>
            </a:pPr>
            <a:r>
              <a:t>•  CTOs y VPs de Ingeniería: </a:t>
            </a:r>
            <a:r>
              <a:rPr b="0">
                <a:solidFill>
                  <a:srgbClr val="454337"/>
                </a:solidFill>
              </a:rPr>
              <a:t>Buscando delegar desarrollo especializado de integración y agentes de IA.</a:t>
            </a:r>
          </a:p>
          <a:p>
            <a:pPr>
              <a:spcAft>
                <a:spcPts val="1000"/>
              </a:spcAft>
              <a:defRPr b="1" sz="1300">
                <a:solidFill>
                  <a:srgbClr val="16161A"/>
                </a:solidFill>
              </a:defRPr>
            </a:pPr>
            <a:r>
              <a:t>•  CFOs y Directores de Finanzas: </a:t>
            </a:r>
            <a:r>
              <a:rPr b="0">
                <a:solidFill>
                  <a:srgbClr val="454337"/>
                </a:solidFill>
              </a:rPr>
              <a:t>Con cuellos de botella de datos en Workday/ERP y reportes manuales.</a:t>
            </a:r>
          </a:p>
          <a:p>
            <a:pPr>
              <a:spcAft>
                <a:spcPts val="1000"/>
              </a:spcAft>
              <a:defRPr b="1" sz="1300">
                <a:solidFill>
                  <a:srgbClr val="16161A"/>
                </a:solidFill>
              </a:defRPr>
            </a:pPr>
            <a:r>
              <a:t>•  VPs de Operaciones: </a:t>
            </a:r>
            <a:r>
              <a:rPr b="0">
                <a:solidFill>
                  <a:srgbClr val="454337"/>
                </a:solidFill>
              </a:rPr>
              <a:t>Buscando eliminar carga administrativa en documentos y procesos.</a:t>
            </a:r>
          </a:p>
          <a:p>
            <a:pPr>
              <a:spcAft>
                <a:spcPts val="1000"/>
              </a:spcAft>
              <a:defRPr b="1" sz="1300">
                <a:solidFill>
                  <a:srgbClr val="16161A"/>
                </a:solidFill>
              </a:defRPr>
            </a:pPr>
            <a:r>
              <a:t>•  Fundadores y Líderes de Producto: </a:t>
            </a:r>
            <a:r>
              <a:rPr b="0">
                <a:solidFill>
                  <a:srgbClr val="454337"/>
                </a:solidFill>
              </a:rPr>
              <a:t>Construyendo software web crítico para el negocio con plazos estrictos.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B59D9"/>
                </a:solidFill>
              </a:defRPr>
            </a:pPr>
            <a:r>
              <a:t>SEÑALES DE OPORTUNIDAD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6161A"/>
                </a:solidFill>
              </a:defRPr>
            </a:pPr>
            <a:r>
              <a:t>Lo que dicen los clientes antes de necesitar nuestro apoyo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10728655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C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74520"/>
            <a:ext cx="10180015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2B59D9"/>
                </a:solidFill>
              </a:defRPr>
            </a:pPr>
            <a:r>
              <a:t>1. Backends y ERPs Desconectados</a:t>
            </a:r>
          </a:p>
          <a:p>
            <a:pPr>
              <a:defRPr sz="1300" i="1">
                <a:solidFill>
                  <a:srgbClr val="16161A"/>
                </a:solidFill>
              </a:defRPr>
            </a:pPr>
            <a:r>
              <a:t>“Nuestros sistemas de finanzas (Workday/ERP/PostgreSQL) no se conectan de manera fluida con nuestras herramientas web o flujos de IA.”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291839"/>
            <a:ext cx="10728655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C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428999"/>
            <a:ext cx="10180015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2B59D9"/>
                </a:solidFill>
              </a:defRPr>
            </a:pPr>
            <a:r>
              <a:t>2. Ambición de IA vs. Seguridad Empresarial</a:t>
            </a:r>
          </a:p>
          <a:p>
            <a:pPr>
              <a:defRPr sz="1300" i="1">
                <a:solidFill>
                  <a:srgbClr val="16161A"/>
                </a:solidFill>
              </a:defRPr>
            </a:pPr>
            <a:r>
              <a:t>“Queremos aprovechar agentes de IA y LLMs, pero necesitamos controles estrictos de seguridad, permisos y validación humana (HITL).”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846320"/>
            <a:ext cx="10728655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C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983480"/>
            <a:ext cx="10180015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2B59D9"/>
                </a:solidFill>
              </a:defRPr>
            </a:pPr>
            <a:r>
              <a:t>3. Cuellos de Botella Operativos Manuales</a:t>
            </a:r>
          </a:p>
          <a:p>
            <a:pPr>
              <a:defRPr sz="1300" i="1">
                <a:solidFill>
                  <a:srgbClr val="16161A"/>
                </a:solidFill>
              </a:defRPr>
            </a:pPr>
            <a:r>
              <a:t>“Nuestro equipo operativo pierde horas procesando facturas, reconciliando registros financieros o ejecutando tareas manuales repetitivas.”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B59D9"/>
                </a:solidFill>
              </a:defRPr>
            </a:pPr>
            <a:r>
              <a:t>ARQUITECTURA PROBADA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6161A"/>
                </a:solidFill>
              </a:defRPr>
            </a:pPr>
            <a:r>
              <a:t>Trayectoria y Credenciales Operativas Reales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328416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C9C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03120"/>
            <a:ext cx="277977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D99B26"/>
                </a:solidFill>
              </a:defRPr>
            </a:pPr>
            <a:r>
              <a:t>INTEGRACIÓN EMPRESARIAL DE SISTEMAS</a:t>
            </a:r>
          </a:p>
          <a:p>
            <a:pPr>
              <a:spcAft>
                <a:spcPts val="1200"/>
              </a:spcAft>
              <a:defRPr sz="1800" b="1">
                <a:solidFill>
                  <a:srgbClr val="16161A"/>
                </a:solidFill>
              </a:defRPr>
            </a:pPr>
            <a:r>
              <a:t>Workday Finance MCP</a:t>
            </a:r>
          </a:p>
          <a:p>
            <a:pPr>
              <a:defRPr sz="1300">
                <a:solidFill>
                  <a:srgbClr val="454337"/>
                </a:solidFill>
              </a:defRPr>
            </a:pPr>
            <a:r>
              <a:t>Protocolo de Contexto de Modelo (MCP) que conecta Workday Finance y Adaptive Planning directamente con flujos de agentes de IA.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828800"/>
            <a:ext cx="3328416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C9C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2103120"/>
            <a:ext cx="277977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D99B26"/>
                </a:solidFill>
              </a:defRPr>
            </a:pPr>
            <a:r>
              <a:t>IA DE VOZ EN HARDWARE Y SOFTWARE</a:t>
            </a:r>
          </a:p>
          <a:p>
            <a:pPr>
              <a:spcAft>
                <a:spcPts val="1200"/>
              </a:spcAft>
              <a:defRPr sz="1800" b="1">
                <a:solidFill>
                  <a:srgbClr val="16161A"/>
                </a:solidFill>
              </a:defRPr>
            </a:pPr>
            <a:r>
              <a:t>Encounter AI</a:t>
            </a:r>
          </a:p>
          <a:p>
            <a:pPr>
              <a:defRPr sz="1300">
                <a:solidFill>
                  <a:srgbClr val="454337"/>
                </a:solidFill>
              </a:defRPr>
            </a:pPr>
            <a:r>
              <a:t>Sistemas de IA de voz para pedidos en drive-thru y kioscos. Respaldado por Morgan Stanley Inclusive Ventures Lab.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828800"/>
            <a:ext cx="3328416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C9C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2103120"/>
            <a:ext cx="277977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D99B26"/>
                </a:solidFill>
              </a:defRPr>
            </a:pPr>
            <a:r>
              <a:t>APPT HELPER · OPEN CITA · BORDER BILLS</a:t>
            </a:r>
          </a:p>
          <a:p>
            <a:pPr>
              <a:spcAft>
                <a:spcPts val="1200"/>
              </a:spcAft>
              <a:defRPr sz="1800" b="1">
                <a:solidFill>
                  <a:srgbClr val="16161A"/>
                </a:solidFill>
              </a:defRPr>
            </a:pPr>
            <a:r>
              <a:t>Portafolio de Productos Propios</a:t>
            </a:r>
          </a:p>
          <a:p>
            <a:pPr>
              <a:defRPr sz="1300">
                <a:solidFill>
                  <a:srgbClr val="454337"/>
                </a:solidFill>
              </a:defRPr>
            </a:pPr>
            <a:r>
              <a:t>Desarrollamos y operamos productos propios para validar la arquitectura, escalabilidad y modelo operativo antes de ofrecerlos a clientes.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B59D9"/>
                </a:solidFill>
              </a:defRPr>
            </a:pPr>
            <a:r>
              <a:t>FILTROS DE DESCARTE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6161A"/>
                </a:solidFill>
              </a:defRPr>
            </a:pPr>
            <a:r>
              <a:t>¿Quiénes NO son un buen perfil? (Cuida la Calidad)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16636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03120"/>
            <a:ext cx="46177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DC2626"/>
                </a:solidFill>
              </a:defRPr>
            </a:pPr>
            <a:r>
              <a:t>❌  Proyectos de Plantillas o Bajo Costo</a:t>
            </a:r>
          </a:p>
          <a:p>
            <a:pPr>
              <a:spcAft>
                <a:spcPts val="800"/>
              </a:spcAft>
              <a:defRPr sz="1300">
                <a:solidFill>
                  <a:srgbClr val="454337"/>
                </a:solidFill>
              </a:defRPr>
            </a:pPr>
            <a:r>
              <a:t>•  Búsqueda de maquila offshore o tarifas por hora de bajo costo.</a:t>
            </a:r>
          </a:p>
          <a:p>
            <a:pPr>
              <a:spcAft>
                <a:spcPts val="800"/>
              </a:spcAft>
              <a:defRPr sz="1300">
                <a:solidFill>
                  <a:srgbClr val="454337"/>
                </a:solidFill>
              </a:defRPr>
            </a:pPr>
            <a:r>
              <a:t>•  Sitios web básicos en WordPress o plantillas genéricas sin código.</a:t>
            </a:r>
          </a:p>
          <a:p>
            <a:pPr>
              <a:spcAft>
                <a:spcPts val="800"/>
              </a:spcAft>
              <a:defRPr sz="1300">
                <a:solidFill>
                  <a:srgbClr val="454337"/>
                </a:solidFill>
              </a:defRPr>
            </a:pPr>
            <a:r>
              <a:t>•  Sin presupuesto de ingeniería o sin intención de invertir en arquitectura a medida.</a:t>
            </a:r>
          </a:p>
          <a:p>
            <a:pPr>
              <a:spcAft>
                <a:spcPts val="800"/>
              </a:spcAft>
              <a:defRPr sz="1300">
                <a:solidFill>
                  <a:srgbClr val="454337"/>
                </a:solidFill>
              </a:defRPr>
            </a:pPr>
            <a:r>
              <a:t>•  Objetivos de negocio difusos sin métricas claras de resultado.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828800"/>
            <a:ext cx="516636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60" y="2103120"/>
            <a:ext cx="46177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DC2626"/>
                </a:solidFill>
              </a:defRPr>
            </a:pPr>
            <a:r>
              <a:t>❌  Proyectos de “Fiebre de IA” sin Orden</a:t>
            </a:r>
          </a:p>
          <a:p>
            <a:pPr>
              <a:spcAft>
                <a:spcPts val="800"/>
              </a:spcAft>
              <a:defRPr sz="1300">
                <a:solidFill>
                  <a:srgbClr val="454337"/>
                </a:solidFill>
              </a:defRPr>
            </a:pPr>
            <a:r>
              <a:t>•  Envoltorios superficiales de IA sin integración a backend o APIs reales.</a:t>
            </a:r>
          </a:p>
          <a:p>
            <a:pPr>
              <a:spcAft>
                <a:spcPts val="800"/>
              </a:spcAft>
              <a:defRPr sz="1300">
                <a:solidFill>
                  <a:srgbClr val="454337"/>
                </a:solidFill>
              </a:defRPr>
            </a:pPr>
            <a:r>
              <a:t>•  Poca disposición para mantener orden de datos, seguridad o supervisión humana.</a:t>
            </a:r>
          </a:p>
          <a:p>
            <a:pPr>
              <a:spcAft>
                <a:spcPts val="800"/>
              </a:spcAft>
              <a:defRPr sz="1300">
                <a:solidFill>
                  <a:srgbClr val="454337"/>
                </a:solidFill>
              </a:defRPr>
            </a:pPr>
            <a:r>
              <a:t>•  Expectativas de magia de IA sin diseño estructurado de procesos.</a:t>
            </a:r>
          </a:p>
          <a:p>
            <a:pPr>
              <a:spcAft>
                <a:spcPts val="800"/>
              </a:spcAft>
              <a:defRPr sz="1300">
                <a:solidFill>
                  <a:srgbClr val="454337"/>
                </a:solidFill>
              </a:defRPr>
            </a:pPr>
            <a:r>
              <a:t>•  Sin un experto interno del negocio para validar los resultados de la IA.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B59D9"/>
                </a:solidFill>
              </a:defRPr>
            </a:pPr>
            <a:r>
              <a:t>ESQUEMA DE COLABORACIÓN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6161A"/>
                </a:solidFill>
              </a:defRPr>
            </a:pPr>
            <a:r>
              <a:t>Modelos Flexibles de Trabajo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328416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C9C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03120"/>
            <a:ext cx="277977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B59D9"/>
                </a:solidFill>
              </a:defRPr>
            </a:pPr>
            <a:r>
              <a:t>2 A 4 SEMANAS</a:t>
            </a:r>
          </a:p>
          <a:p>
            <a:pPr>
              <a:spcAft>
                <a:spcPts val="1200"/>
              </a:spcAft>
              <a:defRPr sz="1700" b="1">
                <a:solidFill>
                  <a:srgbClr val="16161A"/>
                </a:solidFill>
              </a:defRPr>
            </a:pPr>
            <a:r>
              <a:t>1. Prueba de Concepto Rápida (POC)</a:t>
            </a:r>
          </a:p>
          <a:p>
            <a:pPr>
              <a:defRPr sz="1300">
                <a:solidFill>
                  <a:srgbClr val="454337"/>
                </a:solidFill>
              </a:defRPr>
            </a:pPr>
            <a:r>
              <a:t>Validación inicial de bajo riesgo para construir un prototipo funcional, probar integración de APIs (Workday/MCP) y confirmar factibilidad antes del despliegue total.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828800"/>
            <a:ext cx="3328416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C9C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2103120"/>
            <a:ext cx="277977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B59D9"/>
                </a:solidFill>
              </a:defRPr>
            </a:pPr>
            <a:r>
              <a:t>POR PROYECTO / HITOS</a:t>
            </a:r>
          </a:p>
          <a:p>
            <a:pPr>
              <a:spcAft>
                <a:spcPts val="1200"/>
              </a:spcAft>
              <a:defRPr sz="1700" b="1">
                <a:solidFill>
                  <a:srgbClr val="16161A"/>
                </a:solidFill>
              </a:defRPr>
            </a:pPr>
            <a:r>
              <a:t>2. Desarrollo e Implementación Total</a:t>
            </a:r>
          </a:p>
          <a:p>
            <a:pPr>
              <a:defRPr sz="1300">
                <a:solidFill>
                  <a:srgbClr val="454337"/>
                </a:solidFill>
              </a:defRPr>
            </a:pPr>
            <a:r>
              <a:t>Desarrollo integral de software web en React, arquitectura backend de integración, flujos de automatización de IA y puesta en producción.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828800"/>
            <a:ext cx="3328416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C9C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2103120"/>
            <a:ext cx="277977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B59D9"/>
                </a:solidFill>
              </a:defRPr>
            </a:pPr>
            <a:r>
              <a:t>RETAINER MENSUAL</a:t>
            </a:r>
          </a:p>
          <a:p>
            <a:pPr>
              <a:spcAft>
                <a:spcPts val="1200"/>
              </a:spcAft>
              <a:defRPr sz="1700" b="1">
                <a:solidFill>
                  <a:srgbClr val="16161A"/>
                </a:solidFill>
              </a:defRPr>
            </a:pPr>
            <a:r>
              <a:t>3. Asesoría Estratégica y Arquitectura</a:t>
            </a:r>
          </a:p>
          <a:p>
            <a:pPr>
              <a:defRPr sz="1300">
                <a:solidFill>
                  <a:srgbClr val="454337"/>
                </a:solidFill>
              </a:defRPr>
            </a:pPr>
            <a:r>
              <a:t>Liderazgo técnico continuo, revisión de arquitectura de sistemas, hoja de ruta de adopción de IA y acompañamiento a equipos de ingeniería.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D99B26"/>
                </a:solidFill>
              </a:defRPr>
            </a:pPr>
            <a:r>
              <a:t>PRÓXIMOS PASOS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Cómo Hacer la Introducción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10728655" cy="2926080"/>
          </a:xfrm>
          <a:prstGeom prst="roundRect">
            <a:avLst/>
          </a:prstGeom>
          <a:solidFill>
            <a:srgbClr val="1A1D27"/>
          </a:solidFill>
          <a:ln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920240"/>
            <a:ext cx="1018001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D99B26"/>
                </a:solidFill>
              </a:defRPr>
            </a:pPr>
            <a:r>
              <a:t>PLANTILLA RECOMENDADA PARA CORREO:</a:t>
            </a:r>
          </a:p>
          <a:p>
            <a:pPr>
              <a:spcAft>
                <a:spcPts val="800"/>
              </a:spcAft>
              <a:defRPr sz="1400" i="1">
                <a:solidFill>
                  <a:srgbClr val="FFFFFF"/>
                </a:solidFill>
              </a:defRPr>
            </a:pPr>
            <a:r>
              <a:t>“Hola [Nombre] — Me gustaría presentarte a Roberto Guido, Fundador e Ingeniero Principal en Technology Consultants.</a:t>
            </a:r>
          </a:p>
          <a:p>
            <a:pPr>
              <a:defRPr sz="1400" i="1">
                <a:solidFill>
                  <a:srgbClr val="FFFFFF"/>
                </a:solidFill>
              </a:defRPr>
            </a:pPr>
            <a:r>
              <a:t>Ellos se especializan en conectar interfaces web a la medida con sistemas backend complejos (como Workday Finance) y construir automatizaciones seguras de IA con supervisión humana. Dado lo que comentaste sobre [punto de dolor], creo que sería muy valioso que conversen.”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93776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Roberto Guido  |  Technology Consultants</a:t>
            </a:r>
          </a:p>
          <a:p>
            <a:pPr>
              <a:spcBef>
                <a:spcPts val="400"/>
              </a:spcBef>
              <a:defRPr sz="1400">
                <a:solidFill>
                  <a:srgbClr val="D99B26"/>
                </a:solidFill>
              </a:defRPr>
            </a:pPr>
            <a:r>
              <a:t>Sitio web: technologyconsultants.ventures   ·   Ubicación: San Diego y Tijuana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